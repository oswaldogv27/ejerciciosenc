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85" r:id="rId10"/>
    <p:sldId id="291" r:id="rId11"/>
    <p:sldId id="264" r:id="rId12"/>
    <p:sldId id="269" r:id="rId13"/>
    <p:sldId id="270" r:id="rId14"/>
    <p:sldId id="292" r:id="rId15"/>
    <p:sldId id="271" r:id="rId16"/>
    <p:sldId id="272" r:id="rId17"/>
    <p:sldId id="273" r:id="rId18"/>
    <p:sldId id="286" r:id="rId19"/>
    <p:sldId id="287" r:id="rId20"/>
    <p:sldId id="275" r:id="rId21"/>
    <p:sldId id="274" r:id="rId22"/>
    <p:sldId id="284" r:id="rId23"/>
    <p:sldId id="295" r:id="rId24"/>
    <p:sldId id="276" r:id="rId25"/>
    <p:sldId id="294" r:id="rId26"/>
    <p:sldId id="277" r:id="rId27"/>
    <p:sldId id="290" r:id="rId28"/>
    <p:sldId id="278" r:id="rId29"/>
    <p:sldId id="293" r:id="rId30"/>
    <p:sldId id="279" r:id="rId31"/>
    <p:sldId id="288" r:id="rId32"/>
    <p:sldId id="282" r:id="rId33"/>
    <p:sldId id="265" r:id="rId34"/>
    <p:sldId id="266" r:id="rId35"/>
    <p:sldId id="267" r:id="rId36"/>
    <p:sldId id="268" r:id="rId37"/>
    <p:sldId id="280" r:id="rId38"/>
    <p:sldId id="281" r:id="rId39"/>
    <p:sldId id="289" r:id="rId40"/>
    <p:sldId id="296" r:id="rId4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70" d="100"/>
          <a:sy n="70" d="100"/>
        </p:scale>
        <p:origin x="72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11/1/2022</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‹Nº›</a:t>
            </a:fld>
            <a:endParaRPr lang="en-US"/>
          </a:p>
        </p:txBody>
      </p:sp>
    </p:spTree>
    <p:extLst>
      <p:ext uri="{BB962C8B-B14F-4D97-AF65-F5344CB8AC3E}">
        <p14:creationId xmlns:p14="http://schemas.microsoft.com/office/powerpoint/2010/main" val="4115046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79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098643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8050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6207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65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066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3109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668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305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11/1/2022</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719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11/1/2022</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‹Nº›</a:t>
            </a:fld>
            <a:endParaRPr lang="en-US"/>
          </a:p>
        </p:txBody>
      </p:sp>
    </p:spTree>
    <p:extLst>
      <p:ext uri="{BB962C8B-B14F-4D97-AF65-F5344CB8AC3E}">
        <p14:creationId xmlns:p14="http://schemas.microsoft.com/office/powerpoint/2010/main" val="1139519783"/>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timetoast.com/timelines/evolucion-del-ordenador-9615f060-ec47-462e-afae-3cb500fa5f60" TargetMode="External"/><Relationship Id="rId2" Type="http://schemas.openxmlformats.org/officeDocument/2006/relationships/hyperlink" Target="https://genios-computacion-1001.fandom.com/es/wiki/Joseph_Jacquard" TargetMode="External"/><Relationship Id="rId1" Type="http://schemas.openxmlformats.org/officeDocument/2006/relationships/slideLayout" Target="../slideLayouts/slideLayout2.xml"/><Relationship Id="rId5" Type="http://schemas.openxmlformats.org/officeDocument/2006/relationships/hyperlink" Target="https://www.nytimes.com/es/2018/05/14/espanol/cultura/alan-turing-patrones-informatica.html" TargetMode="External"/><Relationship Id="rId4" Type="http://schemas.openxmlformats.org/officeDocument/2006/relationships/hyperlink" Target="https://hipertextual.com/2022/03/maquina-analitica-charles-babbage"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biografiasyvidas.com/biografia/b/backus.htm" TargetMode="External"/><Relationship Id="rId7" Type="http://schemas.openxmlformats.org/officeDocument/2006/relationships/hyperlink" Target="https://en.wikipedia.org/wiki/John_G._Kemeny" TargetMode="External"/><Relationship Id="rId2" Type="http://schemas.openxmlformats.org/officeDocument/2006/relationships/hyperlink" Target="https://es.wikipedia.org/wiki/Fortran" TargetMode="External"/><Relationship Id="rId1" Type="http://schemas.openxmlformats.org/officeDocument/2006/relationships/slideLayout" Target="../slideLayouts/slideLayout2.xml"/><Relationship Id="rId6" Type="http://schemas.openxmlformats.org/officeDocument/2006/relationships/hyperlink" Target="https://es.wikipedia.org/wiki/BASIC" TargetMode="External"/><Relationship Id="rId5" Type="http://schemas.openxmlformats.org/officeDocument/2006/relationships/hyperlink" Target="https://mujeresconciencia.com/2020/01/02/la-matematica-grace-hopper-y-el-revuelo-de-la-polilla/" TargetMode="External"/><Relationship Id="rId4" Type="http://schemas.openxmlformats.org/officeDocument/2006/relationships/hyperlink" Target="http://www3.gobiernodecanarias.org/aciisi/cienciasmc/web/biografias/grace_murray_u9.html"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helisulbaran.blogspot.com/2014/09/09-de-septiembre-1941-nace-dennis.html" TargetMode="External"/><Relationship Id="rId2" Type="http://schemas.openxmlformats.org/officeDocument/2006/relationships/hyperlink" Target="http://www.tugurium.com/gti/termino.php?Tr=Wirth,+Niklaus" TargetMode="External"/><Relationship Id="rId1" Type="http://schemas.openxmlformats.org/officeDocument/2006/relationships/slideLayout" Target="../slideLayouts/slideLayout2.xml"/><Relationship Id="rId6" Type="http://schemas.openxmlformats.org/officeDocument/2006/relationships/hyperlink" Target="https://www.um.es/docencia/barzana/DAWEB/Introduccion-a-html-y-css.html" TargetMode="External"/><Relationship Id="rId5" Type="http://schemas.openxmlformats.org/officeDocument/2006/relationships/hyperlink" Target="https://www2.eii.uva.es/fund_inf/cpp/temas/1_introduccion/introduccion.html" TargetMode="External"/><Relationship Id="rId4" Type="http://schemas.openxmlformats.org/officeDocument/2006/relationships/hyperlink" Target="https://helisulbaran.blogspot.com/2015/12/30-de-diciembre-1950-nace-bjame.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es.wikipedia.org/wiki/Visual_Basic" TargetMode="External"/><Relationship Id="rId7" Type="http://schemas.openxmlformats.org/officeDocument/2006/relationships/hyperlink" Target="https://elpais.com/tecnologia/2020-08-28/el-lenguaje-de-programacion-que-cambio-la-web-y-tu-vida-cumple-25-anos.html" TargetMode="External"/><Relationship Id="rId2" Type="http://schemas.openxmlformats.org/officeDocument/2006/relationships/hyperlink" Target="https://www.muycomputerpro.com/2020/11/13/creador-python-trabajar-microsoft" TargetMode="External"/><Relationship Id="rId1" Type="http://schemas.openxmlformats.org/officeDocument/2006/relationships/slideLayout" Target="../slideLayouts/slideLayout2.xml"/><Relationship Id="rId6" Type="http://schemas.openxmlformats.org/officeDocument/2006/relationships/hyperlink" Target="https://es.wikipedia.org/wiki/Java_(lenguaje_de_programaci%C3%B3n)" TargetMode="External"/><Relationship Id="rId5" Type="http://schemas.openxmlformats.org/officeDocument/2006/relationships/hyperlink" Target="https://suracapulco.mx/alan-cooper-el-padre-de-visual-basic/" TargetMode="External"/><Relationship Id="rId4" Type="http://schemas.openxmlformats.org/officeDocument/2006/relationships/hyperlink" Target="https://desarrolloweb.com/home/html"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1000marcas.net/java-logo/" TargetMode="External"/><Relationship Id="rId7" Type="http://schemas.openxmlformats.org/officeDocument/2006/relationships/hyperlink" Target="https://www.iste.org/es/explore/Empowered-Learner/Mitchel-Resnick:-Scratch-creator,-professor-is-an-expert-on-helping-student-creativity-flourish" TargetMode="External"/><Relationship Id="rId2" Type="http://schemas.openxmlformats.org/officeDocument/2006/relationships/hyperlink" Target="https://www.php.net/manual/es/history.php.php" TargetMode="External"/><Relationship Id="rId1" Type="http://schemas.openxmlformats.org/officeDocument/2006/relationships/slideLayout" Target="../slideLayouts/slideLayout2.xml"/><Relationship Id="rId6" Type="http://schemas.openxmlformats.org/officeDocument/2006/relationships/hyperlink" Target="https://learn.microsoft.com/es-es/dotnet/csharp/tour-of-csharp/" TargetMode="External"/><Relationship Id="rId5" Type="http://schemas.openxmlformats.org/officeDocument/2006/relationships/hyperlink" Target="https://es.wikipedia.org/wiki/C_Sharp" TargetMode="External"/><Relationship Id="rId4" Type="http://schemas.openxmlformats.org/officeDocument/2006/relationships/hyperlink" Target="https://developer.mozilla.org/es/docs/Learn/Getting_started_with_the_web/JavaScript_basics"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blog.hostalia.com/informes/lenguaje-programacion-go-google-quieren-aprender-desarrolladores-2019/" TargetMode="External"/><Relationship Id="rId7" Type="http://schemas.openxmlformats.org/officeDocument/2006/relationships/hyperlink" Target="https://es.wikipedia.org/wiki/Yukihiro_Matsumoto" TargetMode="External"/><Relationship Id="rId2" Type="http://schemas.openxmlformats.org/officeDocument/2006/relationships/hyperlink" Target="https://es.wikipedia.org/wiki/Go_(lenguaje_de_programaci%C3%B3n)" TargetMode="External"/><Relationship Id="rId1" Type="http://schemas.openxmlformats.org/officeDocument/2006/relationships/slideLayout" Target="../slideLayouts/slideLayout2.xml"/><Relationship Id="rId6" Type="http://schemas.openxmlformats.org/officeDocument/2006/relationships/hyperlink" Target="https://www.ruby-lang.org/es/" TargetMode="External"/><Relationship Id="rId5" Type="http://schemas.openxmlformats.org/officeDocument/2006/relationships/hyperlink" Target="https://www.apple.com/mx/swift/" TargetMode="External"/><Relationship Id="rId4" Type="http://schemas.openxmlformats.org/officeDocument/2006/relationships/hyperlink" Target="https://developer.android.com/codelabs/basic-android-kotlin-compose-first-program?hl=es-419"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es.wikipedia.org/wiki/Perl" TargetMode="External"/><Relationship Id="rId7" Type="http://schemas.openxmlformats.org/officeDocument/2006/relationships/hyperlink" Target="https://itelligent.es/es/rust-mozilla-microsoft-azure-amazon-aws-facebook/" TargetMode="External"/><Relationship Id="rId2" Type="http://schemas.openxmlformats.org/officeDocument/2006/relationships/hyperlink" Target="https://es.wikipedia.org/wiki/SQL" TargetMode="External"/><Relationship Id="rId1" Type="http://schemas.openxmlformats.org/officeDocument/2006/relationships/slideLayout" Target="../slideLayouts/slideLayout2.xml"/><Relationship Id="rId6" Type="http://schemas.openxmlformats.org/officeDocument/2006/relationships/hyperlink" Target="https://theorg.com/org/highspot/org-chart/steve-lucco" TargetMode="External"/><Relationship Id="rId5" Type="http://schemas.openxmlformats.org/officeDocument/2006/relationships/hyperlink" Target="https://codigofacilito.com/articulos/typescript" TargetMode="External"/><Relationship Id="rId4" Type="http://schemas.openxmlformats.org/officeDocument/2006/relationships/hyperlink" Target="https://es.wikipedia.org/wiki/R_(lenguaje_de_programaci%C3%B3n)"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en.wikipedia.org/wiki/Guy_L._Steele_Jr" TargetMode="External"/><Relationship Id="rId7" Type="http://schemas.openxmlformats.org/officeDocument/2006/relationships/hyperlink" Target="https://es.wikipedia.org/wiki/Embarcadero_Delphi" TargetMode="External"/><Relationship Id="rId2" Type="http://schemas.openxmlformats.org/officeDocument/2006/relationships/hyperlink" Target="https://es.wikipedia.org/wiki/Scheme" TargetMode="External"/><Relationship Id="rId1" Type="http://schemas.openxmlformats.org/officeDocument/2006/relationships/slideLayout" Target="../slideLayouts/slideLayout2.xml"/><Relationship Id="rId6" Type="http://schemas.openxmlformats.org/officeDocument/2006/relationships/hyperlink" Target="https://docs.scala-lang.org/es/tour/tour-of-scala.html" TargetMode="External"/><Relationship Id="rId5" Type="http://schemas.openxmlformats.org/officeDocument/2006/relationships/hyperlink" Target="https://es.wikipedia.org/wiki/Elixir_(lenguaje_de_programaci%C3%B3n)" TargetMode="External"/><Relationship Id="rId4" Type="http://schemas.openxmlformats.org/officeDocument/2006/relationships/hyperlink" Target="https://es.wikipedia.org/wiki/Erla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atrón de pintura ondulada">
            <a:extLst>
              <a:ext uri="{FF2B5EF4-FFF2-40B4-BE49-F238E27FC236}">
                <a16:creationId xmlns:a16="http://schemas.microsoft.com/office/drawing/2014/main" id="{E58EC95E-C864-3618-20CB-F1423709EBC1}"/>
              </a:ext>
            </a:extLst>
          </p:cNvPr>
          <p:cNvPicPr>
            <a:picLocks noChangeAspect="1"/>
          </p:cNvPicPr>
          <p:nvPr/>
        </p:nvPicPr>
        <p:blipFill rotWithShape="1">
          <a:blip r:embed="rId2"/>
          <a:srcRect l="40308" r="7587" b="1"/>
          <a:stretch/>
        </p:blipFill>
        <p:spPr>
          <a:xfrm>
            <a:off x="-6211" y="-22073"/>
            <a:ext cx="5104813" cy="6857990"/>
          </a:xfrm>
          <a:custGeom>
            <a:avLst/>
            <a:gdLst/>
            <a:ahLst/>
            <a:cxnLst/>
            <a:rect l="l" t="t" r="r" b="b"/>
            <a:pathLst>
              <a:path w="5104833" h="6858000">
                <a:moveTo>
                  <a:pt x="0" y="0"/>
                </a:moveTo>
                <a:lnTo>
                  <a:pt x="3707702" y="0"/>
                </a:lnTo>
                <a:lnTo>
                  <a:pt x="3707702" y="1375489"/>
                </a:lnTo>
                <a:lnTo>
                  <a:pt x="5104833" y="1375489"/>
                </a:lnTo>
                <a:lnTo>
                  <a:pt x="5104833" y="6858000"/>
                </a:lnTo>
                <a:lnTo>
                  <a:pt x="0" y="6858000"/>
                </a:lnTo>
                <a:close/>
              </a:path>
            </a:pathLst>
          </a:custGeom>
        </p:spPr>
      </p:pic>
      <p:sp>
        <p:nvSpPr>
          <p:cNvPr id="11" name="Rectangle 10">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4134"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3" name="Rectangle 12">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4134"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11475C5A-0D3B-C129-68B2-5E27CCB205FC}"/>
              </a:ext>
            </a:extLst>
          </p:cNvPr>
          <p:cNvSpPr>
            <a:spLocks noGrp="1"/>
          </p:cNvSpPr>
          <p:nvPr>
            <p:ph type="ctrTitle"/>
          </p:nvPr>
        </p:nvSpPr>
        <p:spPr>
          <a:xfrm>
            <a:off x="5886700" y="2799253"/>
            <a:ext cx="5657899" cy="1864531"/>
          </a:xfrm>
        </p:spPr>
        <p:txBody>
          <a:bodyPr>
            <a:noAutofit/>
          </a:bodyPr>
          <a:lstStyle/>
          <a:p>
            <a:r>
              <a:rPr lang="es-MX" sz="4000" dirty="0">
                <a:ln>
                  <a:solidFill>
                    <a:srgbClr val="0070C0"/>
                  </a:solidFill>
                </a:ln>
              </a:rPr>
              <a:t>Línea del Tiempo de los lenguajes de Programación</a:t>
            </a:r>
          </a:p>
        </p:txBody>
      </p:sp>
      <p:sp>
        <p:nvSpPr>
          <p:cNvPr id="3" name="Subtítulo 2">
            <a:extLst>
              <a:ext uri="{FF2B5EF4-FFF2-40B4-BE49-F238E27FC236}">
                <a16:creationId xmlns:a16="http://schemas.microsoft.com/office/drawing/2014/main" id="{696C0C10-6537-1109-A5DD-A9D120F16742}"/>
              </a:ext>
            </a:extLst>
          </p:cNvPr>
          <p:cNvSpPr>
            <a:spLocks noGrp="1"/>
          </p:cNvSpPr>
          <p:nvPr>
            <p:ph type="subTitle" idx="1"/>
          </p:nvPr>
        </p:nvSpPr>
        <p:spPr>
          <a:xfrm>
            <a:off x="6134469" y="4985340"/>
            <a:ext cx="5378344" cy="1551104"/>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Nombre: Oswaldo Gil Valent</a:t>
            </a:r>
            <a:r>
              <a:rPr kumimoji="0" lang="es-MX" altLang="es-MX" sz="1800" b="1" i="1" u="none" strike="noStrike" cap="none" normalizeH="0" baseline="0" dirty="0">
                <a:ln>
                  <a:solidFill>
                    <a:srgbClr val="0070C0"/>
                  </a:solidFill>
                </a:ln>
                <a:solidFill>
                  <a:schemeClr val="tx1">
                    <a:lumMod val="95000"/>
                  </a:schemeClr>
                </a:solidFill>
                <a:effectLst/>
                <a:latin typeface="Calibri" panose="020F0502020204030204" pitchFamily="34" charset="0"/>
                <a:ea typeface="Calibri" panose="020F0502020204030204" pitchFamily="34" charset="0"/>
                <a:cs typeface="Arial" panose="020B0604020202020204" pitchFamily="34" charset="0"/>
              </a:rPr>
              <a:t>í</a:t>
            </a: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n </a:t>
            </a:r>
            <a:endParaRPr kumimoji="0" lang="es-MX" altLang="es-MX" sz="1600" b="0" i="0" u="none" strike="noStrike" cap="none" normalizeH="0" baseline="0" dirty="0">
              <a:ln>
                <a:solidFill>
                  <a:srgbClr val="0070C0"/>
                </a:solidFill>
              </a:ln>
              <a:solidFill>
                <a:schemeClr val="tx1">
                  <a:lumMod val="9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Fecha: 01/11/2022</a:t>
            </a:r>
            <a:endParaRPr kumimoji="0" lang="es-MX" altLang="es-MX" sz="1600" b="0" i="0" u="none" strike="noStrike" cap="none" normalizeH="0" baseline="0" dirty="0">
              <a:ln>
                <a:solidFill>
                  <a:srgbClr val="0070C0"/>
                </a:solidFill>
              </a:ln>
              <a:solidFill>
                <a:schemeClr val="tx1">
                  <a:lumMod val="9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Firma: </a:t>
            </a:r>
            <a:endParaRPr kumimoji="0" lang="es-MX" altLang="es-MX" sz="1600" b="0" i="0" u="none" strike="noStrike" cap="none" normalizeH="0" baseline="0" dirty="0">
              <a:ln>
                <a:solidFill>
                  <a:srgbClr val="0070C0"/>
                </a:solidFill>
              </a:ln>
              <a:solidFill>
                <a:schemeClr val="tx1">
                  <a:lumMod val="9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Actividad: Lenguajes de programación</a:t>
            </a:r>
            <a:endParaRPr kumimoji="0" lang="es-MX" altLang="es-MX" sz="1600" b="0" i="0" u="none" strike="noStrike" cap="none" normalizeH="0" baseline="0" dirty="0">
              <a:ln>
                <a:solidFill>
                  <a:srgbClr val="0070C0"/>
                </a:solidFill>
              </a:ln>
              <a:solidFill>
                <a:schemeClr val="tx1">
                  <a:lumMod val="9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Materia: Fundamentos de Programaci</a:t>
            </a:r>
            <a:r>
              <a:rPr kumimoji="0" lang="es-MX" altLang="es-MX" sz="1800" b="1" i="1" u="none" strike="noStrike" cap="none" normalizeH="0" baseline="0" dirty="0">
                <a:ln>
                  <a:solidFill>
                    <a:srgbClr val="0070C0"/>
                  </a:solidFill>
                </a:ln>
                <a:solidFill>
                  <a:schemeClr val="tx1">
                    <a:lumMod val="95000"/>
                  </a:schemeClr>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800" b="1" i="1" u="none" strike="noStrike" cap="none" normalizeH="0" baseline="0" dirty="0">
                <a:ln>
                  <a:solidFill>
                    <a:srgbClr val="0070C0"/>
                  </a:solidFill>
                </a:ln>
                <a:solidFill>
                  <a:schemeClr val="tx1">
                    <a:lumMod val="95000"/>
                  </a:schemeClr>
                </a:solidFill>
                <a:effectLst/>
                <a:latin typeface="Arial" panose="020B0604020202020204" pitchFamily="34" charset="0"/>
                <a:ea typeface="Calibri" panose="020F0502020204030204" pitchFamily="34" charset="0"/>
                <a:cs typeface="Arial" panose="020B0604020202020204" pitchFamily="34" charset="0"/>
              </a:rPr>
              <a:t>n </a:t>
            </a:r>
            <a:endParaRPr kumimoji="0" lang="es-MX" altLang="es-MX" sz="1600" b="0" i="0" u="none" strike="noStrike" cap="none" normalizeH="0" baseline="0" dirty="0">
              <a:ln>
                <a:solidFill>
                  <a:srgbClr val="0070C0"/>
                </a:solidFill>
              </a:ln>
              <a:solidFill>
                <a:schemeClr val="tx1">
                  <a:lumMod val="95000"/>
                </a:schemeClr>
              </a:solidFill>
              <a:effectLst/>
            </a:endParaRPr>
          </a:p>
        </p:txBody>
      </p:sp>
      <p:pic>
        <p:nvPicPr>
          <p:cNvPr id="2053" name="Imagen 3" descr="IPN Logo | significado del logotipo, png, vector">
            <a:extLst>
              <a:ext uri="{FF2B5EF4-FFF2-40B4-BE49-F238E27FC236}">
                <a16:creationId xmlns:a16="http://schemas.microsoft.com/office/drawing/2014/main" id="{4599A109-3AEE-F0C0-3AC0-1787FB5FE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364" t="2" r="31429" b="-484"/>
          <a:stretch>
            <a:fillRect/>
          </a:stretch>
        </p:blipFill>
        <p:spPr bwMode="auto">
          <a:xfrm>
            <a:off x="624833" y="22083"/>
            <a:ext cx="1358121" cy="2219725"/>
          </a:xfrm>
          <a:prstGeom prst="rect">
            <a:avLst/>
          </a:prstGeom>
          <a:noFill/>
          <a:extLst>
            <a:ext uri="{909E8E84-426E-40DD-AFC4-6F175D3DCCD1}">
              <a14:hiddenFill xmlns:a14="http://schemas.microsoft.com/office/drawing/2010/main">
                <a:solidFill>
                  <a:srgbClr val="FFFFFF"/>
                </a:solidFill>
              </a14:hiddenFill>
            </a:ext>
          </a:extLst>
        </p:spPr>
      </p:pic>
      <p:sp>
        <p:nvSpPr>
          <p:cNvPr id="5" name="Cuadro de texto 217">
            <a:extLst>
              <a:ext uri="{FF2B5EF4-FFF2-40B4-BE49-F238E27FC236}">
                <a16:creationId xmlns:a16="http://schemas.microsoft.com/office/drawing/2014/main" id="{66270B2A-2C2E-14C0-BD81-844E2D4DFD6A}"/>
              </a:ext>
            </a:extLst>
          </p:cNvPr>
          <p:cNvSpPr txBox="1">
            <a:spLocks noChangeArrowheads="1"/>
          </p:cNvSpPr>
          <p:nvPr/>
        </p:nvSpPr>
        <p:spPr bwMode="auto">
          <a:xfrm>
            <a:off x="2873078" y="258423"/>
            <a:ext cx="5461214" cy="10772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3200" b="0" i="0" u="none" strike="noStrike" cap="none" normalizeH="0" baseline="0" dirty="0">
                <a:ln>
                  <a:solidFill>
                    <a:schemeClr val="tx1"/>
                  </a:solidFill>
                </a:ln>
                <a:solidFill>
                  <a:srgbClr val="800000"/>
                </a:solidFill>
                <a:effectLst/>
                <a:latin typeface="Eras Bold ITC" panose="020B0907030504020204" pitchFamily="34" charset="0"/>
                <a:ea typeface="Calibri" panose="020F0502020204030204" pitchFamily="34" charset="0"/>
                <a:cs typeface="Times New Roman" panose="02020603050405020304" pitchFamily="18" charset="0"/>
              </a:rPr>
              <a:t>Instituto Polit</a:t>
            </a:r>
            <a:r>
              <a:rPr kumimoji="0" lang="es-MX" altLang="es-MX" sz="3200" b="0" i="0" u="none" strike="noStrike" cap="none" normalizeH="0" baseline="0" dirty="0">
                <a:ln>
                  <a:solidFill>
                    <a:schemeClr val="tx1"/>
                  </a:solidFill>
                </a:ln>
                <a:solidFill>
                  <a:srgbClr val="800000"/>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es-MX" altLang="es-MX" sz="3200" b="0" i="0" u="none" strike="noStrike" cap="none" normalizeH="0" baseline="0" dirty="0">
                <a:ln>
                  <a:solidFill>
                    <a:schemeClr val="tx1"/>
                  </a:solidFill>
                </a:ln>
                <a:solidFill>
                  <a:srgbClr val="800000"/>
                </a:solidFill>
                <a:effectLst/>
                <a:latin typeface="Eras Bold ITC" panose="020B0907030504020204" pitchFamily="34" charset="0"/>
                <a:ea typeface="Calibri" panose="020F0502020204030204" pitchFamily="34" charset="0"/>
                <a:cs typeface="Times New Roman" panose="02020603050405020304" pitchFamily="18" charset="0"/>
              </a:rPr>
              <a:t>cnico Nacional</a:t>
            </a:r>
            <a:endParaRPr kumimoji="0" lang="es-MX" altLang="es-MX" sz="2800" b="0" i="0" u="none" strike="noStrike" cap="none" normalizeH="0" baseline="0" dirty="0">
              <a:ln>
                <a:solidFill>
                  <a:schemeClr val="tx1"/>
                </a:solidFill>
              </a:ln>
              <a:solidFill>
                <a:schemeClr val="tx1"/>
              </a:solidFill>
              <a:effectLst/>
              <a:latin typeface="Arial" panose="020B0604020202020204" pitchFamily="34" charset="0"/>
            </a:endParaRPr>
          </a:p>
        </p:txBody>
      </p:sp>
      <p:sp>
        <p:nvSpPr>
          <p:cNvPr id="6" name="Cuadro de texto 5">
            <a:extLst>
              <a:ext uri="{FF2B5EF4-FFF2-40B4-BE49-F238E27FC236}">
                <a16:creationId xmlns:a16="http://schemas.microsoft.com/office/drawing/2014/main" id="{5D69FAD5-B24F-AE71-4854-72E3C9F47AE0}"/>
              </a:ext>
            </a:extLst>
          </p:cNvPr>
          <p:cNvSpPr txBox="1">
            <a:spLocks noChangeArrowheads="1"/>
          </p:cNvSpPr>
          <p:nvPr/>
        </p:nvSpPr>
        <p:spPr bwMode="auto">
          <a:xfrm>
            <a:off x="1961744" y="1574214"/>
            <a:ext cx="72918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800" b="0" i="0" u="none" strike="noStrike" cap="none" normalizeH="0" baseline="0" dirty="0">
                <a:ln>
                  <a:solidFill>
                    <a:schemeClr val="tx1"/>
                  </a:solidFill>
                </a:ln>
                <a:solidFill>
                  <a:srgbClr val="002060"/>
                </a:solidFill>
                <a:effectLst/>
                <a:latin typeface="Bauhaus 93" panose="04030905020B02020C02" pitchFamily="82" charset="0"/>
                <a:ea typeface="Calibri" panose="020F0502020204030204" pitchFamily="34" charset="0"/>
                <a:cs typeface="Times New Roman" panose="02020603050405020304" pitchFamily="18" charset="0"/>
              </a:rPr>
              <a:t>Escuela Superior de Computo (ESCOM)</a:t>
            </a:r>
            <a:endParaRPr kumimoji="0" lang="es-MX" altLang="es-MX" sz="2800" b="0" i="0" u="none" strike="noStrike" cap="none" normalizeH="0" baseline="0" dirty="0">
              <a:ln>
                <a:solidFill>
                  <a:schemeClr val="tx1"/>
                </a:solid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B91A3463-FD39-38D0-515B-6BEA89751279}"/>
              </a:ext>
            </a:extLst>
          </p:cNvPr>
          <p:cNvSpPr>
            <a:spLocks noChangeArrowheads="1"/>
          </p:cNvSpPr>
          <p:nvPr/>
        </p:nvSpPr>
        <p:spPr bwMode="auto">
          <a:xfrm>
            <a:off x="438150" y="1699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
        <p:nvSpPr>
          <p:cNvPr id="8" name="Rectangle 8">
            <a:extLst>
              <a:ext uri="{FF2B5EF4-FFF2-40B4-BE49-F238E27FC236}">
                <a16:creationId xmlns:a16="http://schemas.microsoft.com/office/drawing/2014/main" id="{27C6946D-DC55-0757-F265-004B7E20A9F2}"/>
              </a:ext>
            </a:extLst>
          </p:cNvPr>
          <p:cNvSpPr>
            <a:spLocks noChangeArrowheads="1"/>
          </p:cNvSpPr>
          <p:nvPr/>
        </p:nvSpPr>
        <p:spPr bwMode="auto">
          <a:xfrm>
            <a:off x="1284311" y="30310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2060" name="Picture 12">
            <a:extLst>
              <a:ext uri="{FF2B5EF4-FFF2-40B4-BE49-F238E27FC236}">
                <a16:creationId xmlns:a16="http://schemas.microsoft.com/office/drawing/2014/main" id="{A579A0A9-F5F7-DA2D-5723-C293FC095D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1174" y="169921"/>
            <a:ext cx="2905993" cy="186453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5 lenguajes de programación mejor pagados - Talently | Talently Blog">
            <a:extLst>
              <a:ext uri="{FF2B5EF4-FFF2-40B4-BE49-F238E27FC236}">
                <a16:creationId xmlns:a16="http://schemas.microsoft.com/office/drawing/2014/main" id="{A03A268C-AFCE-3414-27EE-2A5EB9A084F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239" r="28909"/>
          <a:stretch/>
        </p:blipFill>
        <p:spPr bwMode="auto">
          <a:xfrm>
            <a:off x="697098" y="3143652"/>
            <a:ext cx="3698194" cy="3040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553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10FBF0-3622-686A-A63D-8D8269B64F59}"/>
              </a:ext>
            </a:extLst>
          </p:cNvPr>
          <p:cNvSpPr>
            <a:spLocks noGrp="1"/>
          </p:cNvSpPr>
          <p:nvPr>
            <p:ph type="title"/>
          </p:nvPr>
        </p:nvSpPr>
        <p:spPr>
          <a:xfrm>
            <a:off x="1587710" y="455362"/>
            <a:ext cx="9486690" cy="1099917"/>
          </a:xfrm>
        </p:spPr>
        <p:txBody>
          <a:bodyPr>
            <a:normAutofit fontScale="90000"/>
          </a:bodyPr>
          <a:lstStyle/>
          <a:p>
            <a:pPr algn="ctr"/>
            <a:r>
              <a:rPr lang="es-US" sz="3100" dirty="0"/>
              <a:t>El primer lenguaje de programación nació en 1801</a:t>
            </a:r>
            <a:br>
              <a:rPr lang="es-US" sz="3100" dirty="0"/>
            </a:br>
            <a:r>
              <a:rPr lang="es-US" sz="3100" dirty="0"/>
              <a:t>(Telar Programable)</a:t>
            </a:r>
            <a:br>
              <a:rPr lang="es-US" sz="3100" dirty="0"/>
            </a:br>
            <a:endParaRPr lang="es-MX" dirty="0"/>
          </a:p>
        </p:txBody>
      </p:sp>
      <p:sp>
        <p:nvSpPr>
          <p:cNvPr id="3" name="Marcador de contenido 2">
            <a:extLst>
              <a:ext uri="{FF2B5EF4-FFF2-40B4-BE49-F238E27FC236}">
                <a16:creationId xmlns:a16="http://schemas.microsoft.com/office/drawing/2014/main" id="{219B49E7-B943-FBD2-53F3-A8CD0EA90B1E}"/>
              </a:ext>
            </a:extLst>
          </p:cNvPr>
          <p:cNvSpPr>
            <a:spLocks noGrp="1"/>
          </p:cNvSpPr>
          <p:nvPr>
            <p:ph idx="1"/>
          </p:nvPr>
        </p:nvSpPr>
        <p:spPr>
          <a:xfrm>
            <a:off x="4080681" y="1555280"/>
            <a:ext cx="7307618" cy="2505575"/>
          </a:xfrm>
        </p:spPr>
        <p:txBody>
          <a:bodyPr>
            <a:normAutofit fontScale="92500" lnSpcReduction="20000"/>
          </a:bodyPr>
          <a:lstStyle/>
          <a:p>
            <a:pPr algn="just"/>
            <a:r>
              <a:rPr lang="es-US" sz="1800" b="1" dirty="0">
                <a:solidFill>
                  <a:srgbClr val="0070C0"/>
                </a:solidFill>
              </a:rPr>
              <a:t>Joseph Marie Jacquard</a:t>
            </a:r>
            <a:r>
              <a:rPr lang="es-US" sz="1800" dirty="0">
                <a:solidFill>
                  <a:srgbClr val="0070C0"/>
                </a:solidFill>
              </a:rPr>
              <a:t> </a:t>
            </a:r>
            <a:r>
              <a:rPr lang="es-US" sz="1800" dirty="0"/>
              <a:t>fue el inventor del </a:t>
            </a:r>
            <a:r>
              <a:rPr lang="es-US" sz="1800" b="1" dirty="0">
                <a:solidFill>
                  <a:srgbClr val="0070C0"/>
                </a:solidFill>
              </a:rPr>
              <a:t>telar programable</a:t>
            </a:r>
            <a:r>
              <a:rPr lang="es-US" sz="1800" dirty="0"/>
              <a:t>. Este inventor francés es el responsable de la programación. No es el inventor de la misma, ya que las cosas han cambiado mucho desde entonces, pero está claro que creó el primer sistema de instrucciones para un ''computador‘’.  y es que, sus tarjetas programables se introducían en un telar que leía el código, las instrucciones, de dichas tarjetas y automatizaba procesos. Evidentemente, se trataba de crear diferentes diseños en tejidos, pero esto permitió que cualquiera con el telar y las tarjetas perforadas crearan estos diseños sin ser expertos en la materia.</a:t>
            </a:r>
          </a:p>
        </p:txBody>
      </p:sp>
      <p:sp>
        <p:nvSpPr>
          <p:cNvPr id="5" name="CuadroTexto 4">
            <a:extLst>
              <a:ext uri="{FF2B5EF4-FFF2-40B4-BE49-F238E27FC236}">
                <a16:creationId xmlns:a16="http://schemas.microsoft.com/office/drawing/2014/main" id="{195717A8-78F6-BCAC-31C7-29F8FAE84408}"/>
              </a:ext>
            </a:extLst>
          </p:cNvPr>
          <p:cNvSpPr txBox="1"/>
          <p:nvPr/>
        </p:nvSpPr>
        <p:spPr>
          <a:xfrm>
            <a:off x="2903562" y="4726902"/>
            <a:ext cx="6093724" cy="1477328"/>
          </a:xfrm>
          <a:prstGeom prst="rect">
            <a:avLst/>
          </a:prstGeom>
          <a:noFill/>
        </p:spPr>
        <p:txBody>
          <a:bodyPr wrap="square">
            <a:spAutoFit/>
          </a:bodyPr>
          <a:lstStyle/>
          <a:p>
            <a:pPr algn="just"/>
            <a:r>
              <a:rPr lang="es-US" b="1" dirty="0">
                <a:solidFill>
                  <a:srgbClr val="0070C0"/>
                </a:solidFill>
              </a:rPr>
              <a:t>Se estima que este fue el primer lenguaje de programación</a:t>
            </a:r>
            <a:r>
              <a:rPr lang="es-US" dirty="0"/>
              <a:t>, ya que estas tarjetas perforadas se utilizaron en las primeras máquinas computacionales creadas por </a:t>
            </a:r>
            <a:r>
              <a:rPr lang="es-US" b="1" dirty="0">
                <a:solidFill>
                  <a:srgbClr val="0070C0"/>
                </a:solidFill>
              </a:rPr>
              <a:t>Charles Babbage</a:t>
            </a:r>
            <a:r>
              <a:rPr lang="es-US" dirty="0"/>
              <a:t>, y posteriormente por los primeros ordenadores.</a:t>
            </a:r>
            <a:endParaRPr lang="es-MX" dirty="0"/>
          </a:p>
        </p:txBody>
      </p:sp>
      <p:pic>
        <p:nvPicPr>
          <p:cNvPr id="3074" name="Picture 2" descr="Joseph Jacquard | Genios de la Computación y la Informática Wiki | Fandom">
            <a:extLst>
              <a:ext uri="{FF2B5EF4-FFF2-40B4-BE49-F238E27FC236}">
                <a16:creationId xmlns:a16="http://schemas.microsoft.com/office/drawing/2014/main" id="{9DF2A9A3-2C80-8159-1DF2-E7A803081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196" y="1345112"/>
            <a:ext cx="2095926" cy="29259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volución del ordenador timeline | Timetoast timelines">
            <a:extLst>
              <a:ext uri="{FF2B5EF4-FFF2-40B4-BE49-F238E27FC236}">
                <a16:creationId xmlns:a16="http://schemas.microsoft.com/office/drawing/2014/main" id="{F70BCC6F-913B-15E1-94E0-CCD08581EA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3020" y="4058535"/>
            <a:ext cx="1567619" cy="2344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991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2" name="Rectangle 4111">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1292B27-F40F-F0CB-8638-8DE4895A050E}"/>
              </a:ext>
            </a:extLst>
          </p:cNvPr>
          <p:cNvSpPr>
            <a:spLocks noGrp="1"/>
          </p:cNvSpPr>
          <p:nvPr>
            <p:ph type="title"/>
          </p:nvPr>
        </p:nvSpPr>
        <p:spPr>
          <a:xfrm>
            <a:off x="565151" y="455362"/>
            <a:ext cx="6881728" cy="1550419"/>
          </a:xfrm>
        </p:spPr>
        <p:txBody>
          <a:bodyPr>
            <a:normAutofit/>
          </a:bodyPr>
          <a:lstStyle/>
          <a:p>
            <a:pPr>
              <a:lnSpc>
                <a:spcPct val="90000"/>
              </a:lnSpc>
            </a:pPr>
            <a:r>
              <a:rPr lang="es-US" sz="3100" dirty="0"/>
              <a:t>El primer lenguaje de programación, el de Ada Lovelace</a:t>
            </a:r>
            <a:br>
              <a:rPr lang="es-US" sz="3100" dirty="0"/>
            </a:br>
            <a:endParaRPr lang="es-MX" sz="3100"/>
          </a:p>
        </p:txBody>
      </p:sp>
      <p:sp>
        <p:nvSpPr>
          <p:cNvPr id="3" name="Marcador de contenido 2">
            <a:extLst>
              <a:ext uri="{FF2B5EF4-FFF2-40B4-BE49-F238E27FC236}">
                <a16:creationId xmlns:a16="http://schemas.microsoft.com/office/drawing/2014/main" id="{B6A9E5D3-1A4A-E467-46E6-CDDA2176BE67}"/>
              </a:ext>
            </a:extLst>
          </p:cNvPr>
          <p:cNvSpPr>
            <a:spLocks noGrp="1"/>
          </p:cNvSpPr>
          <p:nvPr>
            <p:ph idx="1"/>
          </p:nvPr>
        </p:nvSpPr>
        <p:spPr>
          <a:xfrm>
            <a:off x="565151" y="1832468"/>
            <a:ext cx="6881728" cy="1920663"/>
          </a:xfrm>
        </p:spPr>
        <p:txBody>
          <a:bodyPr>
            <a:normAutofit fontScale="92500" lnSpcReduction="20000"/>
          </a:bodyPr>
          <a:lstStyle/>
          <a:p>
            <a:r>
              <a:rPr lang="es-US" dirty="0"/>
              <a:t>Entre </a:t>
            </a:r>
            <a:r>
              <a:rPr lang="es-US" b="1" dirty="0">
                <a:solidFill>
                  <a:srgbClr val="0070C0"/>
                </a:solidFill>
              </a:rPr>
              <a:t>1842 y 1843</a:t>
            </a:r>
            <a:r>
              <a:rPr lang="es-US" dirty="0"/>
              <a:t>.</a:t>
            </a:r>
          </a:p>
          <a:p>
            <a:pPr algn="just"/>
            <a:r>
              <a:rPr lang="es-US" b="1" dirty="0">
                <a:solidFill>
                  <a:srgbClr val="0070C0"/>
                </a:solidFill>
              </a:rPr>
              <a:t>Ada Lovelace</a:t>
            </a:r>
            <a:r>
              <a:rPr lang="es-US" dirty="0"/>
              <a:t> se propuso traducir las memorias del matemático italiano </a:t>
            </a:r>
            <a:r>
              <a:rPr lang="es-US" b="1" dirty="0">
                <a:solidFill>
                  <a:srgbClr val="0070C0"/>
                </a:solidFill>
              </a:rPr>
              <a:t>Luigi </a:t>
            </a:r>
            <a:r>
              <a:rPr lang="es-US" b="1" dirty="0" err="1">
                <a:solidFill>
                  <a:srgbClr val="0070C0"/>
                </a:solidFill>
              </a:rPr>
              <a:t>Menabrea</a:t>
            </a:r>
            <a:r>
              <a:rPr lang="es-US" dirty="0"/>
              <a:t> y, mientras lo hacía, creó un lenguaje de programación a mano para calcular la serie de números de Bernoulli con la máquina de Babbage.</a:t>
            </a:r>
          </a:p>
          <a:p>
            <a:endParaRPr lang="es-MX" dirty="0"/>
          </a:p>
        </p:txBody>
      </p:sp>
      <p:pic>
        <p:nvPicPr>
          <p:cNvPr id="4098" name="Picture 2" descr="Ada Byron: Condesa de Lovelace (1815-1851) - Mujeres con ciencia">
            <a:extLst>
              <a:ext uri="{FF2B5EF4-FFF2-40B4-BE49-F238E27FC236}">
                <a16:creationId xmlns:a16="http://schemas.microsoft.com/office/drawing/2014/main" id="{939ED555-2AFE-117C-5E31-6AB40B3D34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65" r="3" b="29942"/>
          <a:stretch/>
        </p:blipFill>
        <p:spPr bwMode="auto">
          <a:xfrm>
            <a:off x="8022336" y="3429000"/>
            <a:ext cx="4169664" cy="3429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uigi Federico Menabrea - Wikipedia, la enciclopedia libre">
            <a:extLst>
              <a:ext uri="{FF2B5EF4-FFF2-40B4-BE49-F238E27FC236}">
                <a16:creationId xmlns:a16="http://schemas.microsoft.com/office/drawing/2014/main" id="{8591E323-3EA5-EBCD-9E97-C221B24415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244" r="-1" b="42868"/>
          <a:stretch/>
        </p:blipFill>
        <p:spPr bwMode="auto">
          <a:xfrm>
            <a:off x="8018632" y="10"/>
            <a:ext cx="4173368" cy="3428990"/>
          </a:xfrm>
          <a:prstGeom prst="rect">
            <a:avLst/>
          </a:prstGeom>
          <a:noFill/>
          <a:extLst>
            <a:ext uri="{909E8E84-426E-40DD-AFC4-6F175D3DCCD1}">
              <a14:hiddenFill xmlns:a14="http://schemas.microsoft.com/office/drawing/2010/main">
                <a:solidFill>
                  <a:srgbClr val="FFFFFF"/>
                </a:solidFill>
              </a14:hiddenFill>
            </a:ext>
          </a:extLst>
        </p:spPr>
      </p:pic>
      <p:sp>
        <p:nvSpPr>
          <p:cNvPr id="4114" name="Rectangle 4113">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6" name="Rectangle 4115">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2" name="Picture 6" descr="La máquina analítica: el ordenador que necesitó 150 años para existir">
            <a:extLst>
              <a:ext uri="{FF2B5EF4-FFF2-40B4-BE49-F238E27FC236}">
                <a16:creationId xmlns:a16="http://schemas.microsoft.com/office/drawing/2014/main" id="{DD5E46FD-3492-885C-F66B-AB9DFA2F58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7543" y="4080679"/>
            <a:ext cx="3675793" cy="2449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332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1">
            <a:extLst>
              <a:ext uri="{FF2B5EF4-FFF2-40B4-BE49-F238E27FC236}">
                <a16:creationId xmlns:a16="http://schemas.microsoft.com/office/drawing/2014/main" id="{36B451C7-3A38-98DA-5C60-7529AC3A1431}"/>
              </a:ext>
            </a:extLst>
          </p:cNvPr>
          <p:cNvSpPr>
            <a:spLocks noGrp="1"/>
          </p:cNvSpPr>
          <p:nvPr>
            <p:ph type="title"/>
          </p:nvPr>
        </p:nvSpPr>
        <p:spPr>
          <a:xfrm>
            <a:off x="5763820" y="455362"/>
            <a:ext cx="5310579" cy="1550419"/>
          </a:xfrm>
        </p:spPr>
        <p:txBody>
          <a:bodyPr>
            <a:normAutofit/>
          </a:bodyPr>
          <a:lstStyle/>
          <a:p>
            <a:r>
              <a:rPr lang="es-US" dirty="0"/>
              <a:t>Alan Turing</a:t>
            </a:r>
            <a:endParaRPr lang="es-MX"/>
          </a:p>
        </p:txBody>
      </p:sp>
      <p:sp>
        <p:nvSpPr>
          <p:cNvPr id="5" name="Marcador de contenido 2">
            <a:extLst>
              <a:ext uri="{FF2B5EF4-FFF2-40B4-BE49-F238E27FC236}">
                <a16:creationId xmlns:a16="http://schemas.microsoft.com/office/drawing/2014/main" id="{CC361299-50B5-B67C-C503-7A640BF7476A}"/>
              </a:ext>
            </a:extLst>
          </p:cNvPr>
          <p:cNvSpPr>
            <a:spLocks noGrp="1"/>
          </p:cNvSpPr>
          <p:nvPr>
            <p:ph idx="1"/>
          </p:nvPr>
        </p:nvSpPr>
        <p:spPr>
          <a:xfrm>
            <a:off x="5763820" y="2160016"/>
            <a:ext cx="4908729" cy="3926152"/>
          </a:xfrm>
        </p:spPr>
        <p:txBody>
          <a:bodyPr>
            <a:normAutofit/>
          </a:bodyPr>
          <a:lstStyle/>
          <a:p>
            <a:pPr algn="just">
              <a:lnSpc>
                <a:spcPct val="100000"/>
              </a:lnSpc>
            </a:pPr>
            <a:r>
              <a:rPr lang="es-US" sz="2000" b="1" dirty="0">
                <a:solidFill>
                  <a:srgbClr val="0070C0"/>
                </a:solidFill>
              </a:rPr>
              <a:t>1936</a:t>
            </a:r>
            <a:r>
              <a:rPr lang="es-US" sz="2000" dirty="0"/>
              <a:t>, entra en escena </a:t>
            </a:r>
            <a:r>
              <a:rPr lang="es-US" sz="2000" b="1" dirty="0">
                <a:solidFill>
                  <a:srgbClr val="0070C0"/>
                </a:solidFill>
              </a:rPr>
              <a:t>Alan Turing</a:t>
            </a:r>
          </a:p>
          <a:p>
            <a:pPr algn="just">
              <a:lnSpc>
                <a:spcPct val="100000"/>
              </a:lnSpc>
            </a:pPr>
            <a:r>
              <a:rPr lang="es-US" sz="2000" dirty="0"/>
              <a:t>Años más tarde, y nuevos lenguajes de programación mediante, Turing revolucionó la computación con su </a:t>
            </a:r>
            <a:r>
              <a:rPr lang="es-US" sz="2000" b="1" dirty="0">
                <a:solidFill>
                  <a:srgbClr val="0070C0"/>
                </a:solidFill>
              </a:rPr>
              <a:t>Máquina de Turing</a:t>
            </a:r>
            <a:r>
              <a:rPr lang="es-US" sz="2000" dirty="0"/>
              <a:t>. Se trata de una máquina que demostraba que, con un algoritmo, podían resolver cualquier problema matemático. </a:t>
            </a:r>
          </a:p>
          <a:p>
            <a:pPr algn="just">
              <a:lnSpc>
                <a:spcPct val="100000"/>
              </a:lnSpc>
            </a:pPr>
            <a:r>
              <a:rPr lang="es-US" sz="2000" dirty="0"/>
              <a:t>Si había un algoritmo, la máquina podía resolver el problema.</a:t>
            </a:r>
            <a:endParaRPr lang="es-MX" sz="2000" dirty="0"/>
          </a:p>
        </p:txBody>
      </p:sp>
      <p:pic>
        <p:nvPicPr>
          <p:cNvPr id="6146" name="Picture 2" descr="El legado de Alan Turing va más allá de la informática - The New York Times">
            <a:extLst>
              <a:ext uri="{FF2B5EF4-FFF2-40B4-BE49-F238E27FC236}">
                <a16:creationId xmlns:a16="http://schemas.microsoft.com/office/drawing/2014/main" id="{51622D84-932E-1252-26BE-411F2B5313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0276" y="1530296"/>
            <a:ext cx="3217333" cy="4273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08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Fortran - Wikipedia, la enciclopedia libre">
            <a:extLst>
              <a:ext uri="{FF2B5EF4-FFF2-40B4-BE49-F238E27FC236}">
                <a16:creationId xmlns:a16="http://schemas.microsoft.com/office/drawing/2014/main" id="{D653B185-7525-AED4-8A99-DB46F3EF4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3888" y="4468863"/>
            <a:ext cx="2089666" cy="20896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Biografia de John Warner Backus">
            <a:extLst>
              <a:ext uri="{FF2B5EF4-FFF2-40B4-BE49-F238E27FC236}">
                <a16:creationId xmlns:a16="http://schemas.microsoft.com/office/drawing/2014/main" id="{04F03346-23AD-EA13-4539-D8E24A4358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513" r="-2" b="-2"/>
          <a:stretch/>
        </p:blipFill>
        <p:spPr bwMode="auto">
          <a:xfrm>
            <a:off x="0" y="-7"/>
            <a:ext cx="406439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DAC815-A9AC-3C9B-6391-571BDB6EA916}"/>
              </a:ext>
            </a:extLst>
          </p:cNvPr>
          <p:cNvSpPr>
            <a:spLocks noGrp="1"/>
          </p:cNvSpPr>
          <p:nvPr>
            <p:ph type="title"/>
          </p:nvPr>
        </p:nvSpPr>
        <p:spPr>
          <a:xfrm>
            <a:off x="4554156" y="383303"/>
            <a:ext cx="6881728" cy="926437"/>
          </a:xfrm>
        </p:spPr>
        <p:txBody>
          <a:bodyPr>
            <a:normAutofit fontScale="90000"/>
          </a:bodyPr>
          <a:lstStyle/>
          <a:p>
            <a:pPr algn="ctr">
              <a:lnSpc>
                <a:spcPct val="90000"/>
              </a:lnSpc>
            </a:pPr>
            <a:r>
              <a:rPr lang="es-US" sz="3400" dirty="0"/>
              <a:t>1957 y el primer lenguaje de programación real</a:t>
            </a:r>
            <a:endParaRPr lang="es-MX" sz="3400" dirty="0"/>
          </a:p>
        </p:txBody>
      </p:sp>
      <p:sp>
        <p:nvSpPr>
          <p:cNvPr id="3" name="Marcador de contenido 2">
            <a:extLst>
              <a:ext uri="{FF2B5EF4-FFF2-40B4-BE49-F238E27FC236}">
                <a16:creationId xmlns:a16="http://schemas.microsoft.com/office/drawing/2014/main" id="{974D95E6-EC72-8356-E5C8-9B39E327EDE9}"/>
              </a:ext>
            </a:extLst>
          </p:cNvPr>
          <p:cNvSpPr>
            <a:spLocks noGrp="1"/>
          </p:cNvSpPr>
          <p:nvPr>
            <p:ph idx="1"/>
          </p:nvPr>
        </p:nvSpPr>
        <p:spPr>
          <a:xfrm>
            <a:off x="4660904" y="1878740"/>
            <a:ext cx="4931038" cy="3665671"/>
          </a:xfrm>
        </p:spPr>
        <p:txBody>
          <a:bodyPr>
            <a:normAutofit fontScale="92500" lnSpcReduction="10000"/>
          </a:bodyPr>
          <a:lstStyle/>
          <a:p>
            <a:pPr algn="just"/>
            <a:r>
              <a:rPr lang="es-US" dirty="0"/>
              <a:t>En el </a:t>
            </a:r>
            <a:r>
              <a:rPr lang="es-US" b="1" dirty="0">
                <a:solidFill>
                  <a:srgbClr val="0070C0"/>
                </a:solidFill>
              </a:rPr>
              <a:t>57</a:t>
            </a:r>
            <a:r>
              <a:rPr lang="es-US" dirty="0"/>
              <a:t>, </a:t>
            </a:r>
            <a:r>
              <a:rPr lang="es-US" b="1" dirty="0">
                <a:solidFill>
                  <a:srgbClr val="0070C0"/>
                </a:solidFill>
              </a:rPr>
              <a:t>John </a:t>
            </a:r>
            <a:r>
              <a:rPr lang="es-US" b="1" dirty="0" err="1">
                <a:solidFill>
                  <a:srgbClr val="0070C0"/>
                </a:solidFill>
              </a:rPr>
              <a:t>W.Backus</a:t>
            </a:r>
            <a:r>
              <a:rPr lang="es-US" dirty="0">
                <a:solidFill>
                  <a:srgbClr val="0070C0"/>
                </a:solidFill>
              </a:rPr>
              <a:t> </a:t>
            </a:r>
            <a:r>
              <a:rPr lang="es-US" dirty="0"/>
              <a:t>inventa el primer lenguaje de programación de alto nivel, el primero que utilizaron los programadores reales, </a:t>
            </a:r>
            <a:r>
              <a:rPr lang="es-US" b="1" dirty="0">
                <a:solidFill>
                  <a:srgbClr val="0070C0"/>
                </a:solidFill>
              </a:rPr>
              <a:t>Fortran</a:t>
            </a:r>
            <a:r>
              <a:rPr lang="es-US" dirty="0"/>
              <a:t>. </a:t>
            </a:r>
          </a:p>
          <a:p>
            <a:pPr algn="just"/>
            <a:r>
              <a:rPr lang="es-US" dirty="0"/>
              <a:t>Fue un lenguaje que surgió como vía de escape de Backus para ''trabajar menos'' en su tarea de calcular trayectorias de misiles, ya que el lenguaje, y el compilador, eran capaces de hacer el trabajo mucho más rápido.</a:t>
            </a:r>
          </a:p>
          <a:p>
            <a:endParaRPr lang="es-MX" dirty="0"/>
          </a:p>
        </p:txBody>
      </p:sp>
    </p:spTree>
    <p:extLst>
      <p:ext uri="{BB962C8B-B14F-4D97-AF65-F5344CB8AC3E}">
        <p14:creationId xmlns:p14="http://schemas.microsoft.com/office/powerpoint/2010/main" val="713324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62B09022-3E41-12C7-CDB8-510E700752DD}"/>
              </a:ext>
            </a:extLst>
          </p:cNvPr>
          <p:cNvSpPr>
            <a:spLocks noGrp="1"/>
          </p:cNvSpPr>
          <p:nvPr>
            <p:ph type="title"/>
          </p:nvPr>
        </p:nvSpPr>
        <p:spPr>
          <a:xfrm>
            <a:off x="3307328" y="364892"/>
            <a:ext cx="6246105" cy="813880"/>
          </a:xfrm>
        </p:spPr>
        <p:txBody>
          <a:bodyPr/>
          <a:lstStyle/>
          <a:p>
            <a:r>
              <a:rPr lang="es-US" dirty="0"/>
              <a:t>En </a:t>
            </a:r>
            <a:r>
              <a:rPr lang="es-US" dirty="0">
                <a:solidFill>
                  <a:srgbClr val="0070C0"/>
                </a:solidFill>
              </a:rPr>
              <a:t>1959</a:t>
            </a:r>
            <a:r>
              <a:rPr lang="es-US" dirty="0"/>
              <a:t> llegó COBOL</a:t>
            </a:r>
            <a:endParaRPr lang="es-MX" dirty="0"/>
          </a:p>
        </p:txBody>
      </p:sp>
      <p:sp>
        <p:nvSpPr>
          <p:cNvPr id="8" name="Marcador de contenido 7">
            <a:extLst>
              <a:ext uri="{FF2B5EF4-FFF2-40B4-BE49-F238E27FC236}">
                <a16:creationId xmlns:a16="http://schemas.microsoft.com/office/drawing/2014/main" id="{26C68B4F-9475-EE6A-D2AA-F3E2EFAC7C78}"/>
              </a:ext>
            </a:extLst>
          </p:cNvPr>
          <p:cNvSpPr>
            <a:spLocks noGrp="1"/>
          </p:cNvSpPr>
          <p:nvPr>
            <p:ph idx="1"/>
          </p:nvPr>
        </p:nvSpPr>
        <p:spPr>
          <a:xfrm>
            <a:off x="5686567" y="1453089"/>
            <a:ext cx="5287181" cy="1552765"/>
          </a:xfrm>
        </p:spPr>
        <p:txBody>
          <a:bodyPr>
            <a:normAutofit fontScale="77500" lnSpcReduction="20000"/>
          </a:bodyPr>
          <a:lstStyle/>
          <a:p>
            <a:pPr algn="just"/>
            <a:r>
              <a:rPr lang="es-US" dirty="0"/>
              <a:t>Tras Fortran como primer compilador, llegó </a:t>
            </a:r>
            <a:r>
              <a:rPr lang="es-US" b="1" dirty="0">
                <a:solidFill>
                  <a:srgbClr val="0070C0"/>
                </a:solidFill>
              </a:rPr>
              <a:t>COBOL</a:t>
            </a:r>
            <a:r>
              <a:rPr lang="es-US" dirty="0"/>
              <a:t> como la culminación de varios otros sistemas de programación. El objetivo era crear un lenguaje de programación universal que pudiera ser usado en cualquier ordenador.</a:t>
            </a:r>
          </a:p>
        </p:txBody>
      </p:sp>
      <p:sp>
        <p:nvSpPr>
          <p:cNvPr id="11" name="CuadroTexto 10">
            <a:extLst>
              <a:ext uri="{FF2B5EF4-FFF2-40B4-BE49-F238E27FC236}">
                <a16:creationId xmlns:a16="http://schemas.microsoft.com/office/drawing/2014/main" id="{6822707A-934F-9916-E45B-18E950992581}"/>
              </a:ext>
            </a:extLst>
          </p:cNvPr>
          <p:cNvSpPr txBox="1"/>
          <p:nvPr/>
        </p:nvSpPr>
        <p:spPr>
          <a:xfrm>
            <a:off x="5874982" y="2921169"/>
            <a:ext cx="5630587" cy="830997"/>
          </a:xfrm>
          <a:prstGeom prst="rect">
            <a:avLst/>
          </a:prstGeom>
          <a:noFill/>
        </p:spPr>
        <p:txBody>
          <a:bodyPr wrap="square">
            <a:spAutoFit/>
          </a:bodyPr>
          <a:lstStyle/>
          <a:p>
            <a:pPr algn="just"/>
            <a:r>
              <a:rPr lang="es-MX" sz="1600" dirty="0"/>
              <a:t>Lenguaje de programación que es utilizado por sistemas financieros, compañías de seguros y un gran número de instituciones.</a:t>
            </a:r>
          </a:p>
        </p:txBody>
      </p:sp>
      <p:sp>
        <p:nvSpPr>
          <p:cNvPr id="13" name="CuadroTexto 12">
            <a:extLst>
              <a:ext uri="{FF2B5EF4-FFF2-40B4-BE49-F238E27FC236}">
                <a16:creationId xmlns:a16="http://schemas.microsoft.com/office/drawing/2014/main" id="{4F9F48EC-4F45-4391-131B-BCF567CA7EB4}"/>
              </a:ext>
            </a:extLst>
          </p:cNvPr>
          <p:cNvSpPr txBox="1"/>
          <p:nvPr/>
        </p:nvSpPr>
        <p:spPr>
          <a:xfrm>
            <a:off x="1409132" y="4343083"/>
            <a:ext cx="10096437" cy="1754326"/>
          </a:xfrm>
          <a:prstGeom prst="rect">
            <a:avLst/>
          </a:prstGeom>
          <a:noFill/>
        </p:spPr>
        <p:txBody>
          <a:bodyPr wrap="square">
            <a:spAutoFit/>
          </a:bodyPr>
          <a:lstStyle/>
          <a:p>
            <a:pPr algn="just"/>
            <a:r>
              <a:rPr lang="es-MX" b="1" dirty="0">
                <a:solidFill>
                  <a:srgbClr val="0070C0"/>
                </a:solidFill>
              </a:rPr>
              <a:t>Murray Hopper, Grace</a:t>
            </a:r>
          </a:p>
          <a:p>
            <a:pPr algn="just"/>
            <a:endParaRPr lang="es-MX" dirty="0">
              <a:solidFill>
                <a:schemeClr val="tx1">
                  <a:lumMod val="95000"/>
                </a:schemeClr>
              </a:solidFill>
            </a:endParaRPr>
          </a:p>
          <a:p>
            <a:pPr algn="just"/>
            <a:r>
              <a:rPr lang="es-MX" dirty="0">
                <a:solidFill>
                  <a:schemeClr val="tx1">
                    <a:lumMod val="95000"/>
                  </a:schemeClr>
                </a:solidFill>
              </a:rPr>
              <a:t>Ingeniera de computación estadounidense. Inventa en </a:t>
            </a:r>
            <a:r>
              <a:rPr lang="es-MX" b="1" dirty="0">
                <a:solidFill>
                  <a:srgbClr val="0070C0"/>
                </a:solidFill>
              </a:rPr>
              <a:t>1952</a:t>
            </a:r>
            <a:r>
              <a:rPr lang="es-MX" dirty="0">
                <a:solidFill>
                  <a:schemeClr val="tx1">
                    <a:lumMod val="95000"/>
                  </a:schemeClr>
                </a:solidFill>
              </a:rPr>
              <a:t> el primer compilador para ordenador. Inventa el lenguaje COBOL. Fue una científica especializada en Matemáticas y también una militar norteamericana, con grado de almirante, considerada una pionera en el mundo de la informática.</a:t>
            </a:r>
          </a:p>
        </p:txBody>
      </p:sp>
      <p:pic>
        <p:nvPicPr>
          <p:cNvPr id="15" name="Picture 4" descr="La matemática Grace Hopper y el (re)vuelo de la polilla - Mujeres con  ciencia">
            <a:extLst>
              <a:ext uri="{FF2B5EF4-FFF2-40B4-BE49-F238E27FC236}">
                <a16:creationId xmlns:a16="http://schemas.microsoft.com/office/drawing/2014/main" id="{87B399F2-5E06-047E-C4E1-8E328D66B6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910" y="1400881"/>
            <a:ext cx="3465835" cy="2477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019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30DB3-F38E-B1D8-D5D2-4491D518FB25}"/>
              </a:ext>
            </a:extLst>
          </p:cNvPr>
          <p:cNvSpPr>
            <a:spLocks noGrp="1"/>
          </p:cNvSpPr>
          <p:nvPr>
            <p:ph type="title"/>
          </p:nvPr>
        </p:nvSpPr>
        <p:spPr>
          <a:xfrm>
            <a:off x="1587710" y="455362"/>
            <a:ext cx="9486690" cy="882119"/>
          </a:xfrm>
        </p:spPr>
        <p:txBody>
          <a:bodyPr/>
          <a:lstStyle/>
          <a:p>
            <a:r>
              <a:rPr lang="es-US" dirty="0"/>
              <a:t>1964 y el nacimiento de BASIC</a:t>
            </a:r>
            <a:endParaRPr lang="es-MX" dirty="0"/>
          </a:p>
        </p:txBody>
      </p:sp>
      <p:sp>
        <p:nvSpPr>
          <p:cNvPr id="3" name="Marcador de contenido 2">
            <a:extLst>
              <a:ext uri="{FF2B5EF4-FFF2-40B4-BE49-F238E27FC236}">
                <a16:creationId xmlns:a16="http://schemas.microsoft.com/office/drawing/2014/main" id="{1FA5B509-027C-35BA-EEA0-FE7859EC1A37}"/>
              </a:ext>
            </a:extLst>
          </p:cNvPr>
          <p:cNvSpPr>
            <a:spLocks noGrp="1"/>
          </p:cNvSpPr>
          <p:nvPr>
            <p:ph idx="1"/>
          </p:nvPr>
        </p:nvSpPr>
        <p:spPr>
          <a:xfrm>
            <a:off x="1404298" y="1506865"/>
            <a:ext cx="6474442" cy="2874065"/>
          </a:xfrm>
        </p:spPr>
        <p:txBody>
          <a:bodyPr>
            <a:normAutofit fontScale="92500"/>
          </a:bodyPr>
          <a:lstStyle/>
          <a:p>
            <a:pPr algn="just"/>
            <a:r>
              <a:rPr lang="es-US" dirty="0" err="1"/>
              <a:t>Beginner's</a:t>
            </a:r>
            <a:r>
              <a:rPr lang="es-US" dirty="0"/>
              <a:t> </a:t>
            </a:r>
            <a:r>
              <a:rPr lang="es-US" dirty="0" err="1"/>
              <a:t>All-purpose</a:t>
            </a:r>
            <a:r>
              <a:rPr lang="es-US" dirty="0"/>
              <a:t> </a:t>
            </a:r>
            <a:r>
              <a:rPr lang="es-US" dirty="0" err="1"/>
              <a:t>Symbolic</a:t>
            </a:r>
            <a:r>
              <a:rPr lang="es-US" dirty="0"/>
              <a:t> </a:t>
            </a:r>
            <a:r>
              <a:rPr lang="es-US" dirty="0" err="1"/>
              <a:t>Instruction</a:t>
            </a:r>
            <a:r>
              <a:rPr lang="es-US" dirty="0"/>
              <a:t> </a:t>
            </a:r>
            <a:r>
              <a:rPr lang="es-US" dirty="0" err="1"/>
              <a:t>Code</a:t>
            </a:r>
            <a:r>
              <a:rPr lang="es-US" dirty="0"/>
              <a:t>, o </a:t>
            </a:r>
            <a:r>
              <a:rPr lang="es-US" b="1" dirty="0">
                <a:solidFill>
                  <a:srgbClr val="0070C0"/>
                </a:solidFill>
              </a:rPr>
              <a:t>BASIC</a:t>
            </a:r>
            <a:r>
              <a:rPr lang="es-US" dirty="0"/>
              <a:t>, es una familia de lenguajes de programación de alto nivel que se desarrolló como una herramienta de enseñanza, pero gracias a su popularidad, se comenzó a adoptar en otros sistemas hasta el punto de que, a día de hoy, sigue siendo muy importante, con programas como Gambas o Visual Basic que se siguen utilizando. </a:t>
            </a:r>
          </a:p>
          <a:p>
            <a:pPr algn="just"/>
            <a:endParaRPr lang="es-US" dirty="0"/>
          </a:p>
        </p:txBody>
      </p:sp>
      <p:sp>
        <p:nvSpPr>
          <p:cNvPr id="5" name="CuadroTexto 4">
            <a:extLst>
              <a:ext uri="{FF2B5EF4-FFF2-40B4-BE49-F238E27FC236}">
                <a16:creationId xmlns:a16="http://schemas.microsoft.com/office/drawing/2014/main" id="{1B52FDF4-3DF4-A899-8170-6B51CAA92FDD}"/>
              </a:ext>
            </a:extLst>
          </p:cNvPr>
          <p:cNvSpPr txBox="1"/>
          <p:nvPr/>
        </p:nvSpPr>
        <p:spPr>
          <a:xfrm>
            <a:off x="1797335" y="5035816"/>
            <a:ext cx="9277065" cy="1200329"/>
          </a:xfrm>
          <a:prstGeom prst="rect">
            <a:avLst/>
          </a:prstGeom>
          <a:noFill/>
        </p:spPr>
        <p:txBody>
          <a:bodyPr wrap="square">
            <a:spAutoFit/>
          </a:bodyPr>
          <a:lstStyle/>
          <a:p>
            <a:pPr algn="r"/>
            <a:r>
              <a:rPr lang="es-MX" b="1" dirty="0">
                <a:solidFill>
                  <a:srgbClr val="0070C0"/>
                </a:solidFill>
              </a:rPr>
              <a:t>John George </a:t>
            </a:r>
            <a:r>
              <a:rPr lang="es-MX" b="1" dirty="0" err="1">
                <a:solidFill>
                  <a:srgbClr val="0070C0"/>
                </a:solidFill>
              </a:rPr>
              <a:t>Kemeny</a:t>
            </a:r>
            <a:endParaRPr lang="es-MX" b="1" dirty="0">
              <a:solidFill>
                <a:srgbClr val="0070C0"/>
              </a:solidFill>
            </a:endParaRPr>
          </a:p>
          <a:p>
            <a:pPr algn="just"/>
            <a:r>
              <a:rPr lang="es-MX" dirty="0"/>
              <a:t>El lenguaje BASIC fue inventado en </a:t>
            </a:r>
            <a:r>
              <a:rPr lang="es-MX" b="1" dirty="0">
                <a:solidFill>
                  <a:srgbClr val="0070C0"/>
                </a:solidFill>
              </a:rPr>
              <a:t>1964</a:t>
            </a:r>
            <a:r>
              <a:rPr lang="es-MX" dirty="0"/>
              <a:t> por John George </a:t>
            </a:r>
            <a:r>
              <a:rPr lang="es-MX" dirty="0" err="1"/>
              <a:t>Kemeny</a:t>
            </a:r>
            <a:r>
              <a:rPr lang="es-MX" dirty="0"/>
              <a:t> (1926-1992) y Thomas Eugene Kurtz (1928-) en el Dartmouth </a:t>
            </a:r>
            <a:r>
              <a:rPr lang="es-MX" dirty="0" err="1"/>
              <a:t>College</a:t>
            </a:r>
            <a:r>
              <a:rPr lang="es-MX" dirty="0"/>
              <a:t>, con la ayuda de otros como la programadora Mary Kenneth Keller.</a:t>
            </a:r>
          </a:p>
        </p:txBody>
      </p:sp>
      <p:pic>
        <p:nvPicPr>
          <p:cNvPr id="11" name="Picture 2" descr="John G. Kemeny - Wikipedia">
            <a:extLst>
              <a:ext uri="{FF2B5EF4-FFF2-40B4-BE49-F238E27FC236}">
                <a16:creationId xmlns:a16="http://schemas.microsoft.com/office/drawing/2014/main" id="{4AD5C173-9A2F-BDE5-D42F-658FD2544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2202" y="1710409"/>
            <a:ext cx="2095500" cy="24669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2496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34" name="Rectangle 9233">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6" name="Rectangle 9235">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8" name="Rectangle 9237">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C60AC88-9FF9-8ECF-2D46-164FDA837B3A}"/>
              </a:ext>
            </a:extLst>
          </p:cNvPr>
          <p:cNvSpPr>
            <a:spLocks noGrp="1"/>
          </p:cNvSpPr>
          <p:nvPr>
            <p:ph type="title"/>
          </p:nvPr>
        </p:nvSpPr>
        <p:spPr>
          <a:xfrm>
            <a:off x="5763820" y="455363"/>
            <a:ext cx="5310579" cy="839666"/>
          </a:xfrm>
        </p:spPr>
        <p:txBody>
          <a:bodyPr>
            <a:normAutofit/>
          </a:bodyPr>
          <a:lstStyle/>
          <a:p>
            <a:pPr algn="ctr"/>
            <a:r>
              <a:rPr lang="es-MX" dirty="0"/>
              <a:t>PASCAL</a:t>
            </a:r>
          </a:p>
        </p:txBody>
      </p:sp>
      <p:sp>
        <p:nvSpPr>
          <p:cNvPr id="3" name="Marcador de contenido 2">
            <a:extLst>
              <a:ext uri="{FF2B5EF4-FFF2-40B4-BE49-F238E27FC236}">
                <a16:creationId xmlns:a16="http://schemas.microsoft.com/office/drawing/2014/main" id="{9091C175-5575-9ADE-1855-28D34123E8F3}"/>
              </a:ext>
            </a:extLst>
          </p:cNvPr>
          <p:cNvSpPr>
            <a:spLocks noGrp="1"/>
          </p:cNvSpPr>
          <p:nvPr>
            <p:ph idx="1"/>
          </p:nvPr>
        </p:nvSpPr>
        <p:spPr>
          <a:xfrm>
            <a:off x="5463569" y="1573162"/>
            <a:ext cx="6218915" cy="1855838"/>
          </a:xfrm>
        </p:spPr>
        <p:txBody>
          <a:bodyPr>
            <a:normAutofit/>
          </a:bodyPr>
          <a:lstStyle/>
          <a:p>
            <a:r>
              <a:rPr lang="es-US" sz="1800" b="1" dirty="0">
                <a:solidFill>
                  <a:srgbClr val="0070C0"/>
                </a:solidFill>
              </a:rPr>
              <a:t>1970</a:t>
            </a:r>
            <a:r>
              <a:rPr lang="es-US" sz="1800" dirty="0"/>
              <a:t>, </a:t>
            </a:r>
            <a:r>
              <a:rPr lang="es-US" sz="1800" b="1" dirty="0">
                <a:solidFill>
                  <a:srgbClr val="0070C0"/>
                </a:solidFill>
              </a:rPr>
              <a:t>Pascal</a:t>
            </a:r>
          </a:p>
          <a:p>
            <a:pPr algn="just"/>
            <a:r>
              <a:rPr lang="es-US" sz="1800" b="1" dirty="0" err="1">
                <a:solidFill>
                  <a:srgbClr val="0070C0"/>
                </a:solidFill>
              </a:rPr>
              <a:t>Niklaus</a:t>
            </a:r>
            <a:r>
              <a:rPr lang="es-US" sz="1800" b="1" dirty="0">
                <a:solidFill>
                  <a:srgbClr val="0070C0"/>
                </a:solidFill>
              </a:rPr>
              <a:t> Wirth </a:t>
            </a:r>
            <a:r>
              <a:rPr lang="es-US" sz="1800" dirty="0"/>
              <a:t>fue un profesor que creó Pascal como, igual que BASIC, herramienta de enseñanza de programación, pero pronto </a:t>
            </a:r>
            <a:r>
              <a:rPr lang="es-US" sz="1800" dirty="0" err="1"/>
              <a:t>trascendó</a:t>
            </a:r>
            <a:r>
              <a:rPr lang="es-US" sz="1800" dirty="0"/>
              <a:t> como lenguaje de programación para crear todo tipo de aplicaciones. </a:t>
            </a:r>
            <a:endParaRPr lang="es-MX" sz="1800" dirty="0"/>
          </a:p>
        </p:txBody>
      </p:sp>
      <p:pic>
        <p:nvPicPr>
          <p:cNvPr id="9220" name="Picture 4" descr="Wirth, Niklaus - GTI - Glosario Terminología Informática">
            <a:extLst>
              <a:ext uri="{FF2B5EF4-FFF2-40B4-BE49-F238E27FC236}">
                <a16:creationId xmlns:a16="http://schemas.microsoft.com/office/drawing/2014/main" id="{FAC01102-4646-3548-580D-325C242586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30" r="1975"/>
          <a:stretch/>
        </p:blipFill>
        <p:spPr bwMode="auto">
          <a:xfrm>
            <a:off x="660276" y="1295028"/>
            <a:ext cx="3217333" cy="474381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24A4E111-C322-2008-0422-3124C1B7A238}"/>
              </a:ext>
            </a:extLst>
          </p:cNvPr>
          <p:cNvSpPr txBox="1"/>
          <p:nvPr/>
        </p:nvSpPr>
        <p:spPr>
          <a:xfrm>
            <a:off x="5602434" y="3807510"/>
            <a:ext cx="6093724" cy="1477328"/>
          </a:xfrm>
          <a:prstGeom prst="rect">
            <a:avLst/>
          </a:prstGeom>
          <a:noFill/>
        </p:spPr>
        <p:txBody>
          <a:bodyPr wrap="square">
            <a:spAutoFit/>
          </a:bodyPr>
          <a:lstStyle/>
          <a:p>
            <a:r>
              <a:rPr lang="es-MX" b="1" dirty="0">
                <a:solidFill>
                  <a:srgbClr val="0070C0"/>
                </a:solidFill>
              </a:rPr>
              <a:t>Pascal</a:t>
            </a:r>
            <a:r>
              <a:rPr lang="es-MX" dirty="0"/>
              <a:t> es un lenguaje que permite programar en forma estructurada y modularizada. Esto significa que es posible dividir al programa en módulos (implementados utilizando procedimientos y funciones) y organizado de manera tal que se pueda leer con facilidad.</a:t>
            </a:r>
          </a:p>
        </p:txBody>
      </p:sp>
    </p:spTree>
    <p:extLst>
      <p:ext uri="{BB962C8B-B14F-4D97-AF65-F5344CB8AC3E}">
        <p14:creationId xmlns:p14="http://schemas.microsoft.com/office/powerpoint/2010/main" val="4181111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83" name="Rectangle 24582">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78" name="Picture 2" descr="Qué es SQL? Aprende los básicos de Data Analytics | Ironhack Blog">
            <a:extLst>
              <a:ext uri="{FF2B5EF4-FFF2-40B4-BE49-F238E27FC236}">
                <a16:creationId xmlns:a16="http://schemas.microsoft.com/office/drawing/2014/main" id="{2C22D255-AAC5-7B9C-E27E-B6F18C47B9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91" r="-5" b="-5"/>
          <a:stretch/>
        </p:blipFill>
        <p:spPr bwMode="auto">
          <a:xfrm>
            <a:off x="3048" y="10"/>
            <a:ext cx="12188952" cy="6857990"/>
          </a:xfrm>
          <a:prstGeom prst="rect">
            <a:avLst/>
          </a:prstGeom>
          <a:noFill/>
          <a:extLst>
            <a:ext uri="{909E8E84-426E-40DD-AFC4-6F175D3DCCD1}">
              <a14:hiddenFill xmlns:a14="http://schemas.microsoft.com/office/drawing/2010/main">
                <a:solidFill>
                  <a:srgbClr val="FFFFFF"/>
                </a:solidFill>
              </a14:hiddenFill>
            </a:ext>
          </a:extLst>
        </p:spPr>
      </p:pic>
      <p:sp>
        <p:nvSpPr>
          <p:cNvPr id="24585" name="Rectangle">
            <a:extLst>
              <a:ext uri="{FF2B5EF4-FFF2-40B4-BE49-F238E27FC236}">
                <a16:creationId xmlns:a16="http://schemas.microsoft.com/office/drawing/2014/main" id="{F7C9FD24-3092-E04F-925D-C1183BF54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755908" cy="6858001"/>
          </a:xfrm>
          <a:prstGeom prst="rect">
            <a:avLst/>
          </a:prstGeom>
          <a:solidFill>
            <a:schemeClr val="bg1">
              <a:alpha val="85000"/>
            </a:schemeClr>
          </a:solidFill>
          <a:ln w="12700">
            <a:miter lim="400000"/>
          </a:ln>
        </p:spPr>
        <p:txBody>
          <a:bodyPr lIns="50800" tIns="50800" rIns="50800" bIns="50800" anchor="ctr"/>
          <a:lstStyle/>
          <a:p>
            <a:pPr algn="ctr" defTabSz="457200"/>
            <a:endParaRPr sz="2600" cap="all" dirty="0">
              <a:solidFill>
                <a:srgbClr val="FFFFFF"/>
              </a:solidFill>
              <a:sym typeface="Avenir Next"/>
            </a:endParaRPr>
          </a:p>
        </p:txBody>
      </p:sp>
      <p:sp>
        <p:nvSpPr>
          <p:cNvPr id="24587" name="Rectangle 2458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108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9" name="Rectangle 24588">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108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04B05A7-768C-1CB6-5865-4D1720621389}"/>
              </a:ext>
            </a:extLst>
          </p:cNvPr>
          <p:cNvSpPr>
            <a:spLocks noGrp="1"/>
          </p:cNvSpPr>
          <p:nvPr>
            <p:ph type="title"/>
          </p:nvPr>
        </p:nvSpPr>
        <p:spPr>
          <a:xfrm>
            <a:off x="576072" y="455362"/>
            <a:ext cx="11352071" cy="1550419"/>
          </a:xfrm>
        </p:spPr>
        <p:txBody>
          <a:bodyPr>
            <a:normAutofit/>
          </a:bodyPr>
          <a:lstStyle/>
          <a:p>
            <a:pPr algn="ctr"/>
            <a:r>
              <a:rPr lang="es-US" dirty="0">
                <a:ln>
                  <a:solidFill>
                    <a:srgbClr val="00B0F0"/>
                  </a:solidFill>
                </a:ln>
                <a:solidFill>
                  <a:srgbClr val="0070C0"/>
                </a:solidFill>
              </a:rPr>
              <a:t>SQL (por sus siglas en inglés </a:t>
            </a:r>
            <a:r>
              <a:rPr lang="es-US" dirty="0" err="1">
                <a:ln>
                  <a:solidFill>
                    <a:srgbClr val="00B0F0"/>
                  </a:solidFill>
                </a:ln>
                <a:solidFill>
                  <a:srgbClr val="0070C0"/>
                </a:solidFill>
              </a:rPr>
              <a:t>Structured</a:t>
            </a:r>
            <a:r>
              <a:rPr lang="es-US" dirty="0">
                <a:ln>
                  <a:solidFill>
                    <a:srgbClr val="00B0F0"/>
                  </a:solidFill>
                </a:ln>
                <a:solidFill>
                  <a:srgbClr val="0070C0"/>
                </a:solidFill>
              </a:rPr>
              <a:t> </a:t>
            </a:r>
            <a:r>
              <a:rPr lang="es-US" dirty="0" err="1">
                <a:ln>
                  <a:solidFill>
                    <a:srgbClr val="00B0F0"/>
                  </a:solidFill>
                </a:ln>
                <a:solidFill>
                  <a:srgbClr val="0070C0"/>
                </a:solidFill>
              </a:rPr>
              <a:t>Query</a:t>
            </a:r>
            <a:r>
              <a:rPr lang="es-US" dirty="0">
                <a:ln>
                  <a:solidFill>
                    <a:srgbClr val="00B0F0"/>
                  </a:solidFill>
                </a:ln>
                <a:solidFill>
                  <a:srgbClr val="0070C0"/>
                </a:solidFill>
              </a:rPr>
              <a:t> </a:t>
            </a:r>
            <a:r>
              <a:rPr lang="es-US" dirty="0" err="1">
                <a:ln>
                  <a:solidFill>
                    <a:srgbClr val="00B0F0"/>
                  </a:solidFill>
                </a:ln>
                <a:solidFill>
                  <a:srgbClr val="0070C0"/>
                </a:solidFill>
              </a:rPr>
              <a:t>Language</a:t>
            </a:r>
            <a:r>
              <a:rPr lang="es-US" dirty="0">
                <a:ln>
                  <a:solidFill>
                    <a:srgbClr val="00B0F0"/>
                  </a:solidFill>
                </a:ln>
                <a:solidFill>
                  <a:srgbClr val="0070C0"/>
                </a:solidFill>
              </a:rPr>
              <a:t>)</a:t>
            </a:r>
            <a:endParaRPr lang="es-MX" dirty="0">
              <a:ln>
                <a:solidFill>
                  <a:srgbClr val="00B0F0"/>
                </a:solidFill>
              </a:ln>
              <a:solidFill>
                <a:srgbClr val="0070C0"/>
              </a:solidFill>
            </a:endParaRPr>
          </a:p>
        </p:txBody>
      </p:sp>
      <p:sp>
        <p:nvSpPr>
          <p:cNvPr id="3" name="Marcador de contenido 2">
            <a:extLst>
              <a:ext uri="{FF2B5EF4-FFF2-40B4-BE49-F238E27FC236}">
                <a16:creationId xmlns:a16="http://schemas.microsoft.com/office/drawing/2014/main" id="{627CA994-AA8B-5D21-571C-C205C6C38C2F}"/>
              </a:ext>
            </a:extLst>
          </p:cNvPr>
          <p:cNvSpPr>
            <a:spLocks noGrp="1"/>
          </p:cNvSpPr>
          <p:nvPr>
            <p:ph idx="1"/>
          </p:nvPr>
        </p:nvSpPr>
        <p:spPr>
          <a:xfrm>
            <a:off x="539781" y="1754957"/>
            <a:ext cx="3560644" cy="3913238"/>
          </a:xfrm>
        </p:spPr>
        <p:txBody>
          <a:bodyPr>
            <a:normAutofit fontScale="77500" lnSpcReduction="20000"/>
          </a:bodyPr>
          <a:lstStyle/>
          <a:p>
            <a:pPr algn="just"/>
            <a:r>
              <a:rPr lang="es-US" dirty="0"/>
              <a:t>Es un lenguaje de dominio específico, </a:t>
            </a:r>
            <a:r>
              <a:rPr lang="es-US" b="1" dirty="0">
                <a:solidFill>
                  <a:srgbClr val="0070C0"/>
                </a:solidFill>
              </a:rPr>
              <a:t>diseñado para administrar, y recuperar información</a:t>
            </a:r>
            <a:r>
              <a:rPr lang="es-US" dirty="0"/>
              <a:t> de sistemas de gestión de bases de datos relacionales.</a:t>
            </a:r>
          </a:p>
          <a:p>
            <a:pPr algn="just"/>
            <a:r>
              <a:rPr lang="es-US" dirty="0"/>
              <a:t>Una de sus principales características es el manejo del álgebra y el cálculo relacional para efectuar consultas con el fin de recuperar, de forma sencilla, información de bases de datos, así como realizar cambios en ellas.</a:t>
            </a:r>
          </a:p>
        </p:txBody>
      </p:sp>
      <p:sp>
        <p:nvSpPr>
          <p:cNvPr id="5" name="CuadroTexto 4">
            <a:extLst>
              <a:ext uri="{FF2B5EF4-FFF2-40B4-BE49-F238E27FC236}">
                <a16:creationId xmlns:a16="http://schemas.microsoft.com/office/drawing/2014/main" id="{0C36A9D1-42C5-A35F-3557-A9E74878052B}"/>
              </a:ext>
            </a:extLst>
          </p:cNvPr>
          <p:cNvSpPr txBox="1"/>
          <p:nvPr/>
        </p:nvSpPr>
        <p:spPr>
          <a:xfrm>
            <a:off x="706032" y="5491111"/>
            <a:ext cx="4042002" cy="1138773"/>
          </a:xfrm>
          <a:prstGeom prst="rect">
            <a:avLst/>
          </a:prstGeom>
          <a:noFill/>
        </p:spPr>
        <p:txBody>
          <a:bodyPr wrap="square">
            <a:spAutoFit/>
          </a:bodyPr>
          <a:lstStyle/>
          <a:p>
            <a:pPr algn="just"/>
            <a:r>
              <a:rPr lang="es-US" sz="1700" dirty="0"/>
              <a:t>En </a:t>
            </a:r>
            <a:r>
              <a:rPr lang="es-US" sz="1700" b="1" dirty="0">
                <a:solidFill>
                  <a:srgbClr val="0070C0"/>
                </a:solidFill>
              </a:rPr>
              <a:t>1970, E. F. Codd </a:t>
            </a:r>
            <a:r>
              <a:rPr lang="es-US" sz="1700" dirty="0"/>
              <a:t>propone el modelo relacional y asociado a este un </a:t>
            </a:r>
            <a:r>
              <a:rPr lang="es-US" sz="1700" dirty="0" err="1"/>
              <a:t>sublenguaje</a:t>
            </a:r>
            <a:r>
              <a:rPr lang="es-US" sz="1700" dirty="0"/>
              <a:t> de acceso a los datos basado en el cálculo de predicados.</a:t>
            </a:r>
            <a:endParaRPr lang="es-MX" sz="1700" dirty="0"/>
          </a:p>
        </p:txBody>
      </p:sp>
    </p:spTree>
    <p:extLst>
      <p:ext uri="{BB962C8B-B14F-4D97-AF65-F5344CB8AC3E}">
        <p14:creationId xmlns:p14="http://schemas.microsoft.com/office/powerpoint/2010/main" val="139762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05" name="Rectangle 29704">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00" name="Picture 4" descr="Guy L. Steele Jr. - Wikipedia">
            <a:extLst>
              <a:ext uri="{FF2B5EF4-FFF2-40B4-BE49-F238E27FC236}">
                <a16:creationId xmlns:a16="http://schemas.microsoft.com/office/drawing/2014/main" id="{34C5D5D2-9513-5828-1607-3A8847D828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397" r="10705"/>
          <a:stretch/>
        </p:blipFill>
        <p:spPr bwMode="auto">
          <a:xfrm>
            <a:off x="8018632" y="10"/>
            <a:ext cx="4173368" cy="6857990"/>
          </a:xfrm>
          <a:prstGeom prst="rect">
            <a:avLst/>
          </a:prstGeom>
          <a:noFill/>
          <a:extLst>
            <a:ext uri="{909E8E84-426E-40DD-AFC4-6F175D3DCCD1}">
              <a14:hiddenFill xmlns:a14="http://schemas.microsoft.com/office/drawing/2010/main">
                <a:solidFill>
                  <a:srgbClr val="FFFFFF"/>
                </a:solidFill>
              </a14:hiddenFill>
            </a:ext>
          </a:extLst>
        </p:spPr>
      </p:pic>
      <p:sp>
        <p:nvSpPr>
          <p:cNvPr id="29707" name="Rectangle 2970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9" name="Rectangle 29708">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5459E8-5010-336F-6F9D-8671884915FB}"/>
              </a:ext>
            </a:extLst>
          </p:cNvPr>
          <p:cNvSpPr>
            <a:spLocks noGrp="1"/>
          </p:cNvSpPr>
          <p:nvPr>
            <p:ph type="title"/>
          </p:nvPr>
        </p:nvSpPr>
        <p:spPr>
          <a:xfrm>
            <a:off x="565151" y="455363"/>
            <a:ext cx="6881728" cy="932822"/>
          </a:xfrm>
        </p:spPr>
        <p:txBody>
          <a:bodyPr>
            <a:normAutofit/>
          </a:bodyPr>
          <a:lstStyle/>
          <a:p>
            <a:r>
              <a:rPr lang="es-MX" dirty="0" err="1"/>
              <a:t>Scheme</a:t>
            </a:r>
            <a:endParaRPr lang="es-MX" dirty="0"/>
          </a:p>
        </p:txBody>
      </p:sp>
      <p:sp>
        <p:nvSpPr>
          <p:cNvPr id="3" name="Marcador de contenido 2">
            <a:extLst>
              <a:ext uri="{FF2B5EF4-FFF2-40B4-BE49-F238E27FC236}">
                <a16:creationId xmlns:a16="http://schemas.microsoft.com/office/drawing/2014/main" id="{74681E55-BF80-4DA1-00D2-5B01E68883E9}"/>
              </a:ext>
            </a:extLst>
          </p:cNvPr>
          <p:cNvSpPr>
            <a:spLocks noGrp="1"/>
          </p:cNvSpPr>
          <p:nvPr>
            <p:ph idx="1"/>
          </p:nvPr>
        </p:nvSpPr>
        <p:spPr>
          <a:xfrm>
            <a:off x="565151" y="1583140"/>
            <a:ext cx="6881728" cy="4503028"/>
          </a:xfrm>
        </p:spPr>
        <p:txBody>
          <a:bodyPr>
            <a:normAutofit/>
          </a:bodyPr>
          <a:lstStyle/>
          <a:p>
            <a:pPr algn="just"/>
            <a:r>
              <a:rPr lang="es-US" sz="2000" dirty="0"/>
              <a:t>Fue desarrollado por </a:t>
            </a:r>
            <a:r>
              <a:rPr lang="es-US" sz="2000" b="1" dirty="0">
                <a:solidFill>
                  <a:srgbClr val="0070C0"/>
                </a:solidFill>
              </a:rPr>
              <a:t>Guy L. Steele y Gerald Jay </a:t>
            </a:r>
            <a:r>
              <a:rPr lang="es-US" sz="2000" b="1" dirty="0" err="1">
                <a:solidFill>
                  <a:srgbClr val="0070C0"/>
                </a:solidFill>
              </a:rPr>
              <a:t>Sussman</a:t>
            </a:r>
            <a:r>
              <a:rPr lang="es-US" sz="2000" dirty="0"/>
              <a:t> en la </a:t>
            </a:r>
            <a:r>
              <a:rPr lang="es-US" sz="2000" b="1" dirty="0">
                <a:solidFill>
                  <a:srgbClr val="0070C0"/>
                </a:solidFill>
              </a:rPr>
              <a:t>década de los setenta </a:t>
            </a:r>
            <a:r>
              <a:rPr lang="es-US" sz="2000" dirty="0"/>
              <a:t>e introducido en el mundo académico a través de una serie de artículos conocidos como los Lambda </a:t>
            </a:r>
            <a:r>
              <a:rPr lang="es-US" sz="2000" dirty="0" err="1"/>
              <a:t>Papers</a:t>
            </a:r>
            <a:r>
              <a:rPr lang="es-US" sz="2000" dirty="0"/>
              <a:t> de </a:t>
            </a:r>
            <a:r>
              <a:rPr lang="es-US" sz="2000" dirty="0" err="1"/>
              <a:t>Sussman</a:t>
            </a:r>
            <a:r>
              <a:rPr lang="es-US" sz="2000" dirty="0"/>
              <a:t> y Steele. La filosofía de </a:t>
            </a:r>
            <a:r>
              <a:rPr lang="es-US" sz="2000" dirty="0" err="1"/>
              <a:t>Scheme</a:t>
            </a:r>
            <a:r>
              <a:rPr lang="es-US" sz="2000" dirty="0"/>
              <a:t> es minimalista.</a:t>
            </a:r>
          </a:p>
          <a:p>
            <a:pPr algn="just"/>
            <a:r>
              <a:rPr lang="es-US" sz="2000" dirty="0"/>
              <a:t> fue uno de los primeros lenguajes de programación con continuaciones explícitas, un mecanismo </a:t>
            </a:r>
            <a:r>
              <a:rPr lang="es-US" sz="2000" b="1" dirty="0">
                <a:solidFill>
                  <a:srgbClr val="0070C0"/>
                </a:solidFill>
              </a:rPr>
              <a:t>para guardar y usar el estado entero de un programa en un momento determinado.</a:t>
            </a:r>
            <a:r>
              <a:rPr lang="es-US" sz="2000" dirty="0"/>
              <a:t> </a:t>
            </a:r>
            <a:r>
              <a:rPr lang="es-US" sz="2000" dirty="0" err="1"/>
              <a:t>Scheme</a:t>
            </a:r>
            <a:r>
              <a:rPr lang="es-US" sz="2000" dirty="0"/>
              <a:t> ofrece también gestión automática de memoria (recolección de basura).</a:t>
            </a:r>
            <a:endParaRPr lang="es-MX" sz="2000" dirty="0"/>
          </a:p>
        </p:txBody>
      </p:sp>
    </p:spTree>
    <p:extLst>
      <p:ext uri="{BB962C8B-B14F-4D97-AF65-F5344CB8AC3E}">
        <p14:creationId xmlns:p14="http://schemas.microsoft.com/office/powerpoint/2010/main" val="2005487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62" name="Rectangle 10255">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Efemerides de Tecnologia: 09 de septiembre (1941) nace Dennis Ritchie. El  padre del Lenguaje C">
            <a:extLst>
              <a:ext uri="{FF2B5EF4-FFF2-40B4-BE49-F238E27FC236}">
                <a16:creationId xmlns:a16="http://schemas.microsoft.com/office/drawing/2014/main" id="{56AAF45F-0B70-BBAB-470C-62C3034A3F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865" r="24863" b="-1"/>
          <a:stretch/>
        </p:blipFill>
        <p:spPr bwMode="auto">
          <a:xfrm>
            <a:off x="20" y="10"/>
            <a:ext cx="4651228"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63" name="Rectangle 10257">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4" name="Rectangle 10259">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69CE37D-BE87-BFA1-2226-EC8018F2A361}"/>
              </a:ext>
            </a:extLst>
          </p:cNvPr>
          <p:cNvSpPr>
            <a:spLocks noGrp="1"/>
          </p:cNvSpPr>
          <p:nvPr>
            <p:ph type="title"/>
          </p:nvPr>
        </p:nvSpPr>
        <p:spPr>
          <a:xfrm>
            <a:off x="5127362" y="455363"/>
            <a:ext cx="3811922" cy="827528"/>
          </a:xfrm>
        </p:spPr>
        <p:txBody>
          <a:bodyPr>
            <a:normAutofit/>
          </a:bodyPr>
          <a:lstStyle/>
          <a:p>
            <a:r>
              <a:rPr lang="es-US" dirty="0"/>
              <a:t>1972, llega C</a:t>
            </a:r>
            <a:endParaRPr lang="es-MX" dirty="0"/>
          </a:p>
        </p:txBody>
      </p:sp>
      <p:sp>
        <p:nvSpPr>
          <p:cNvPr id="3" name="Marcador de contenido 2">
            <a:extLst>
              <a:ext uri="{FF2B5EF4-FFF2-40B4-BE49-F238E27FC236}">
                <a16:creationId xmlns:a16="http://schemas.microsoft.com/office/drawing/2014/main" id="{2AAC120F-6F8D-B090-7B63-11608C9CD615}"/>
              </a:ext>
            </a:extLst>
          </p:cNvPr>
          <p:cNvSpPr>
            <a:spLocks noGrp="1"/>
          </p:cNvSpPr>
          <p:nvPr>
            <p:ph idx="1"/>
          </p:nvPr>
        </p:nvSpPr>
        <p:spPr>
          <a:xfrm>
            <a:off x="5127362" y="2160016"/>
            <a:ext cx="6881728" cy="3926152"/>
          </a:xfrm>
        </p:spPr>
        <p:txBody>
          <a:bodyPr>
            <a:normAutofit fontScale="92500" lnSpcReduction="10000"/>
          </a:bodyPr>
          <a:lstStyle/>
          <a:p>
            <a:pPr algn="just"/>
            <a:r>
              <a:rPr lang="es-US" b="1" dirty="0">
                <a:solidFill>
                  <a:srgbClr val="0070C0"/>
                </a:solidFill>
              </a:rPr>
              <a:t>C</a:t>
            </a:r>
            <a:r>
              <a:rPr lang="es-US" dirty="0"/>
              <a:t> fue creado por </a:t>
            </a:r>
            <a:r>
              <a:rPr lang="es-US" b="1" dirty="0">
                <a:solidFill>
                  <a:srgbClr val="0070C0"/>
                </a:solidFill>
              </a:rPr>
              <a:t>Dennis Ritchie </a:t>
            </a:r>
            <a:r>
              <a:rPr lang="es-US" dirty="0"/>
              <a:t>como un lenguaje de programación en el que solo unas pocas instrucciones pueden traducir cada elemento del lenguaje. </a:t>
            </a:r>
          </a:p>
          <a:p>
            <a:pPr algn="just"/>
            <a:endParaRPr lang="es-US" dirty="0"/>
          </a:p>
          <a:p>
            <a:pPr algn="just"/>
            <a:r>
              <a:rPr lang="es-US" dirty="0"/>
              <a:t>El lenguaje C se usó como </a:t>
            </a:r>
            <a:r>
              <a:rPr lang="es-US" b="1" dirty="0">
                <a:solidFill>
                  <a:srgbClr val="0070C0"/>
                </a:solidFill>
              </a:rPr>
              <a:t>intermediario</a:t>
            </a:r>
            <a:r>
              <a:rPr lang="es-US" dirty="0"/>
              <a:t> entre lenguajes, ya que era un lenguaje de bajo nivel, pero con el tiempo, este lenguaje de programadores para programadores se ha utilizado en todo tipo de software, y ha sido la base de otros lenguajes de programación que se utilizan muchísimo en la actualidad.</a:t>
            </a:r>
            <a:endParaRPr lang="es-MX" dirty="0"/>
          </a:p>
        </p:txBody>
      </p:sp>
    </p:spTree>
    <p:extLst>
      <p:ext uri="{BB962C8B-B14F-4D97-AF65-F5344CB8AC3E}">
        <p14:creationId xmlns:p14="http://schemas.microsoft.com/office/powerpoint/2010/main" val="308853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Efemerides de Tecnologia: 30 de diciembre (1950) nace Bjame Stroustrup. El  padre del lenguaje C++">
            <a:extLst>
              <a:ext uri="{FF2B5EF4-FFF2-40B4-BE49-F238E27FC236}">
                <a16:creationId xmlns:a16="http://schemas.microsoft.com/office/drawing/2014/main" id="{C3AA7EB7-51AA-F40D-920E-83AFAD584A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698" r="4448"/>
          <a:stretch/>
        </p:blipFill>
        <p:spPr bwMode="auto">
          <a:xfrm>
            <a:off x="8018632" y="10"/>
            <a:ext cx="4173368" cy="6857990"/>
          </a:xfrm>
          <a:prstGeom prst="rect">
            <a:avLst/>
          </a:prstGeom>
          <a:noFill/>
          <a:extLst>
            <a:ext uri="{909E8E84-426E-40DD-AFC4-6F175D3DCCD1}">
              <a14:hiddenFill xmlns:a14="http://schemas.microsoft.com/office/drawing/2010/main">
                <a:solidFill>
                  <a:srgbClr val="FFFFFF"/>
                </a:solidFill>
              </a14:hiddenFill>
            </a:ext>
          </a:extLst>
        </p:spPr>
      </p:pic>
      <p:sp>
        <p:nvSpPr>
          <p:cNvPr id="11273" name="Rectangle 1127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5" name="Rectangle 11274">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1712AD-4BDF-F535-F406-56CFE99A491A}"/>
              </a:ext>
            </a:extLst>
          </p:cNvPr>
          <p:cNvSpPr>
            <a:spLocks noGrp="1"/>
          </p:cNvSpPr>
          <p:nvPr>
            <p:ph type="title"/>
          </p:nvPr>
        </p:nvSpPr>
        <p:spPr>
          <a:xfrm>
            <a:off x="565151" y="455363"/>
            <a:ext cx="6881728" cy="932822"/>
          </a:xfrm>
        </p:spPr>
        <p:txBody>
          <a:bodyPr>
            <a:normAutofit/>
          </a:bodyPr>
          <a:lstStyle/>
          <a:p>
            <a:r>
              <a:rPr lang="es-US" dirty="0"/>
              <a:t>Y C++ en </a:t>
            </a:r>
            <a:r>
              <a:rPr lang="es-US" dirty="0">
                <a:solidFill>
                  <a:srgbClr val="0070C0"/>
                </a:solidFill>
              </a:rPr>
              <a:t>1979</a:t>
            </a:r>
            <a:endParaRPr lang="es-MX" dirty="0">
              <a:solidFill>
                <a:srgbClr val="0070C0"/>
              </a:solidFill>
            </a:endParaRPr>
          </a:p>
        </p:txBody>
      </p:sp>
      <p:sp>
        <p:nvSpPr>
          <p:cNvPr id="3" name="Marcador de contenido 2">
            <a:extLst>
              <a:ext uri="{FF2B5EF4-FFF2-40B4-BE49-F238E27FC236}">
                <a16:creationId xmlns:a16="http://schemas.microsoft.com/office/drawing/2014/main" id="{E142CE42-CF5B-A386-B47E-5A429D045C51}"/>
              </a:ext>
            </a:extLst>
          </p:cNvPr>
          <p:cNvSpPr>
            <a:spLocks noGrp="1"/>
          </p:cNvSpPr>
          <p:nvPr>
            <p:ph idx="1"/>
          </p:nvPr>
        </p:nvSpPr>
        <p:spPr>
          <a:xfrm>
            <a:off x="565151" y="1982595"/>
            <a:ext cx="6881728" cy="3926152"/>
          </a:xfrm>
        </p:spPr>
        <p:txBody>
          <a:bodyPr>
            <a:normAutofit/>
          </a:bodyPr>
          <a:lstStyle/>
          <a:p>
            <a:pPr algn="just"/>
            <a:r>
              <a:rPr lang="es-US" dirty="0"/>
              <a:t>C++ es uno de los lenguajes de programación más utilizados... para todo. la intención de </a:t>
            </a:r>
            <a:r>
              <a:rPr lang="es-US" b="1" dirty="0">
                <a:solidFill>
                  <a:srgbClr val="0070C0"/>
                </a:solidFill>
              </a:rPr>
              <a:t>Bjarne Stroustrup</a:t>
            </a:r>
            <a:r>
              <a:rPr lang="es-US" dirty="0"/>
              <a:t> fue la de extender al lenguaje de programación C mecanismos para manipular objetos. </a:t>
            </a:r>
          </a:p>
          <a:p>
            <a:pPr algn="just"/>
            <a:r>
              <a:rPr lang="es-US" dirty="0"/>
              <a:t>C++ es un ejemplo de lenguaje de programación compilado, multiparadigma, principalmente de tipo imperativo y orientado a objetos, incluyendo también programación genérica y funcional.</a:t>
            </a:r>
            <a:endParaRPr lang="es-MX" dirty="0"/>
          </a:p>
        </p:txBody>
      </p:sp>
    </p:spTree>
    <p:extLst>
      <p:ext uri="{BB962C8B-B14F-4D97-AF65-F5344CB8AC3E}">
        <p14:creationId xmlns:p14="http://schemas.microsoft.com/office/powerpoint/2010/main" val="1256130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7" name="Rectangle 12296">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9" name="Rectangle 12298">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1" name="Rectangle 12300">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15DD4C-3D70-2E39-55AF-BB1E17878D7D}"/>
              </a:ext>
            </a:extLst>
          </p:cNvPr>
          <p:cNvSpPr>
            <a:spLocks noGrp="1"/>
          </p:cNvSpPr>
          <p:nvPr>
            <p:ph type="title"/>
          </p:nvPr>
        </p:nvSpPr>
        <p:spPr>
          <a:xfrm>
            <a:off x="2620787" y="327589"/>
            <a:ext cx="4067909" cy="932821"/>
          </a:xfrm>
        </p:spPr>
        <p:txBody>
          <a:bodyPr>
            <a:normAutofit/>
          </a:bodyPr>
          <a:lstStyle/>
          <a:p>
            <a:pPr algn="ctr"/>
            <a:r>
              <a:rPr lang="es-MX" dirty="0"/>
              <a:t>HTML</a:t>
            </a:r>
          </a:p>
        </p:txBody>
      </p:sp>
      <p:sp>
        <p:nvSpPr>
          <p:cNvPr id="12294" name="Content Placeholder 12293">
            <a:extLst>
              <a:ext uri="{FF2B5EF4-FFF2-40B4-BE49-F238E27FC236}">
                <a16:creationId xmlns:a16="http://schemas.microsoft.com/office/drawing/2014/main" id="{2C02D6A5-86B4-0917-E962-56C0A0E2CE74}"/>
              </a:ext>
            </a:extLst>
          </p:cNvPr>
          <p:cNvSpPr>
            <a:spLocks noGrp="1"/>
          </p:cNvSpPr>
          <p:nvPr>
            <p:ph idx="1"/>
          </p:nvPr>
        </p:nvSpPr>
        <p:spPr>
          <a:xfrm>
            <a:off x="1437585" y="1039012"/>
            <a:ext cx="5809377" cy="3668732"/>
          </a:xfrm>
        </p:spPr>
        <p:txBody>
          <a:bodyPr>
            <a:normAutofit/>
          </a:bodyPr>
          <a:lstStyle/>
          <a:p>
            <a:pPr marL="0" indent="0">
              <a:buNone/>
            </a:pPr>
            <a:endParaRPr lang="es-US" sz="1600" dirty="0"/>
          </a:p>
          <a:p>
            <a:pPr algn="just"/>
            <a:r>
              <a:rPr lang="es-US" sz="1600" dirty="0"/>
              <a:t>El origen de </a:t>
            </a:r>
            <a:r>
              <a:rPr lang="es-US" sz="1600" b="1" dirty="0">
                <a:solidFill>
                  <a:srgbClr val="0070C0"/>
                </a:solidFill>
              </a:rPr>
              <a:t>HTML</a:t>
            </a:r>
            <a:r>
              <a:rPr lang="es-US" sz="1600" dirty="0"/>
              <a:t> se remonta a </a:t>
            </a:r>
            <a:r>
              <a:rPr lang="es-US" sz="1600" b="1" dirty="0">
                <a:solidFill>
                  <a:srgbClr val="0070C0"/>
                </a:solidFill>
              </a:rPr>
              <a:t>1980</a:t>
            </a:r>
            <a:r>
              <a:rPr lang="es-US" sz="1600" dirty="0"/>
              <a:t>, cuando el físico </a:t>
            </a:r>
            <a:r>
              <a:rPr lang="es-US" sz="1600" b="1" dirty="0">
                <a:solidFill>
                  <a:srgbClr val="0070C0"/>
                </a:solidFill>
              </a:rPr>
              <a:t>Tim Berners-Lee</a:t>
            </a:r>
            <a:r>
              <a:rPr lang="es-US" sz="1600" dirty="0"/>
              <a:t>, investigador del CERN (Organización Europea para la Investigación Nuclear) propuso un nuevo sistema de “</a:t>
            </a:r>
            <a:r>
              <a:rPr lang="es-US" sz="1600" b="1" dirty="0">
                <a:solidFill>
                  <a:srgbClr val="0070C0"/>
                </a:solidFill>
              </a:rPr>
              <a:t>hipertexto</a:t>
            </a:r>
            <a:r>
              <a:rPr lang="es-US" sz="1600" dirty="0"/>
              <a:t>” para compartir documentos.</a:t>
            </a:r>
          </a:p>
          <a:p>
            <a:pPr algn="just"/>
            <a:endParaRPr lang="es-US" sz="1600" dirty="0"/>
          </a:p>
          <a:p>
            <a:pPr algn="just"/>
            <a:r>
              <a:rPr lang="es-US" sz="1600" dirty="0"/>
              <a:t>Los sistemas de hipertexto habían sido desarrollados años antes. En el ámbito de la informática, el hipertexto permite que los usuarios accedan a la información relacionada con los documentos electrónicos que visualizan. </a:t>
            </a:r>
          </a:p>
        </p:txBody>
      </p:sp>
      <p:pic>
        <p:nvPicPr>
          <p:cNvPr id="12290" name="Picture 2" descr="HTML">
            <a:extLst>
              <a:ext uri="{FF2B5EF4-FFF2-40B4-BE49-F238E27FC236}">
                <a16:creationId xmlns:a16="http://schemas.microsoft.com/office/drawing/2014/main" id="{B630764B-9F5A-2B9E-2EF9-79A08350CF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92425" y="794000"/>
            <a:ext cx="5199575" cy="311974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11117F10-F4C8-0F54-DE34-167FA223FAC1}"/>
              </a:ext>
            </a:extLst>
          </p:cNvPr>
          <p:cNvSpPr txBox="1"/>
          <p:nvPr/>
        </p:nvSpPr>
        <p:spPr>
          <a:xfrm>
            <a:off x="1557832" y="5146591"/>
            <a:ext cx="9852304" cy="1200329"/>
          </a:xfrm>
          <a:prstGeom prst="rect">
            <a:avLst/>
          </a:prstGeom>
          <a:noFill/>
        </p:spPr>
        <p:txBody>
          <a:bodyPr wrap="square">
            <a:spAutoFit/>
          </a:bodyPr>
          <a:lstStyle/>
          <a:p>
            <a:r>
              <a:rPr lang="es-US" dirty="0"/>
              <a:t>Tras finalizar el desarrollo de su sistema, Tim Berners-Lee lo presentó a una convocatoria organizada para desarrollar un sistema de hipertexto para internet. Después de unir sus fuerzas con el ingeniero de sistemas </a:t>
            </a:r>
            <a:r>
              <a:rPr lang="es-US" b="1" dirty="0">
                <a:solidFill>
                  <a:srgbClr val="0070C0"/>
                </a:solidFill>
              </a:rPr>
              <a:t>Robert Cailliau</a:t>
            </a:r>
            <a:r>
              <a:rPr lang="es-US" dirty="0"/>
              <a:t>, presentaron la propuesta ganadora llamada </a:t>
            </a:r>
            <a:r>
              <a:rPr lang="es-US" b="1" dirty="0" err="1">
                <a:solidFill>
                  <a:srgbClr val="0070C0"/>
                </a:solidFill>
              </a:rPr>
              <a:t>WorldWideWeb</a:t>
            </a:r>
            <a:r>
              <a:rPr lang="es-US" dirty="0"/>
              <a:t> (W3).</a:t>
            </a:r>
            <a:endParaRPr lang="en-US" dirty="0"/>
          </a:p>
        </p:txBody>
      </p:sp>
    </p:spTree>
    <p:extLst>
      <p:ext uri="{BB962C8B-B14F-4D97-AF65-F5344CB8AC3E}">
        <p14:creationId xmlns:p14="http://schemas.microsoft.com/office/powerpoint/2010/main" val="1867835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7" name="Rectangle 30726">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0729" name="Rectangle 30728">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30731" name="Rectangle 30730">
            <a:extLst>
              <a:ext uri="{FF2B5EF4-FFF2-40B4-BE49-F238E27FC236}">
                <a16:creationId xmlns:a16="http://schemas.microsoft.com/office/drawing/2014/main" id="{281148B8-58D0-4E9A-A32C-B3B181A3A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3" name="Rectangle 30732">
            <a:extLst>
              <a:ext uri="{FF2B5EF4-FFF2-40B4-BE49-F238E27FC236}">
                <a16:creationId xmlns:a16="http://schemas.microsoft.com/office/drawing/2014/main" id="{81EC1EF6-A5BF-44DB-A672-D024091B3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5"/>
            <a:ext cx="5106593"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0735" name="Rectangle 30734">
            <a:extLst>
              <a:ext uri="{FF2B5EF4-FFF2-40B4-BE49-F238E27FC236}">
                <a16:creationId xmlns:a16="http://schemas.microsoft.com/office/drawing/2014/main" id="{45E02CBB-287D-4A17-B2F3-56AD2C058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742769"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CA823F-75D2-7150-694A-970A19C51D56}"/>
              </a:ext>
            </a:extLst>
          </p:cNvPr>
          <p:cNvSpPr>
            <a:spLocks noGrp="1"/>
          </p:cNvSpPr>
          <p:nvPr>
            <p:ph type="title"/>
          </p:nvPr>
        </p:nvSpPr>
        <p:spPr>
          <a:xfrm>
            <a:off x="5409779" y="523809"/>
            <a:ext cx="5553005" cy="1427821"/>
          </a:xfrm>
        </p:spPr>
        <p:txBody>
          <a:bodyPr vert="horz" lIns="91440" tIns="45720" rIns="91440" bIns="45720" rtlCol="0" anchor="t">
            <a:normAutofit/>
          </a:bodyPr>
          <a:lstStyle/>
          <a:p>
            <a:pPr algn="ctr"/>
            <a:r>
              <a:rPr lang="en-US" sz="6000" dirty="0"/>
              <a:t>ERLANG</a:t>
            </a:r>
          </a:p>
        </p:txBody>
      </p:sp>
      <p:pic>
        <p:nvPicPr>
          <p:cNvPr id="30722" name="Picture 2">
            <a:extLst>
              <a:ext uri="{FF2B5EF4-FFF2-40B4-BE49-F238E27FC236}">
                <a16:creationId xmlns:a16="http://schemas.microsoft.com/office/drawing/2014/main" id="{1E9AE234-AC82-54D5-BBB7-5B2C201FDE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13698" y="2513218"/>
            <a:ext cx="3691252" cy="3149868"/>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43CCCDAC-484F-F774-E474-07806531643F}"/>
              </a:ext>
            </a:extLst>
          </p:cNvPr>
          <p:cNvSpPr txBox="1"/>
          <p:nvPr/>
        </p:nvSpPr>
        <p:spPr>
          <a:xfrm>
            <a:off x="5477726" y="2274834"/>
            <a:ext cx="6093724" cy="2308324"/>
          </a:xfrm>
          <a:prstGeom prst="rect">
            <a:avLst/>
          </a:prstGeom>
          <a:noFill/>
        </p:spPr>
        <p:txBody>
          <a:bodyPr wrap="square">
            <a:spAutoFit/>
          </a:bodyPr>
          <a:lstStyle/>
          <a:p>
            <a:pPr algn="just"/>
            <a:r>
              <a:rPr lang="es-MX" dirty="0"/>
              <a:t>Originalmente, </a:t>
            </a:r>
            <a:r>
              <a:rPr lang="es-MX" b="1" dirty="0" err="1">
                <a:solidFill>
                  <a:srgbClr val="0070C0"/>
                </a:solidFill>
              </a:rPr>
              <a:t>Erlang</a:t>
            </a:r>
            <a:r>
              <a:rPr lang="es-MX" dirty="0"/>
              <a:t> era un lenguaje propietario de Ericsson, pero fue cedido como software de código abierto en </a:t>
            </a:r>
            <a:r>
              <a:rPr lang="es-MX" b="1" dirty="0">
                <a:solidFill>
                  <a:srgbClr val="0070C0"/>
                </a:solidFill>
              </a:rPr>
              <a:t>1998</a:t>
            </a:r>
            <a:r>
              <a:rPr lang="es-MX" dirty="0"/>
              <a:t>.</a:t>
            </a:r>
          </a:p>
          <a:p>
            <a:pPr algn="just"/>
            <a:endParaRPr lang="es-MX" dirty="0"/>
          </a:p>
          <a:p>
            <a:pPr algn="just"/>
            <a:r>
              <a:rPr lang="es-MX" dirty="0" err="1"/>
              <a:t>Erlang</a:t>
            </a:r>
            <a:r>
              <a:rPr lang="es-MX" dirty="0"/>
              <a:t> es un lenguaje de programación concurrente (u orientado a la concurrencia) y un sistema de ejecución que incluye una máquina virtual (BEAM) y bibliotecas (OTP).</a:t>
            </a:r>
          </a:p>
        </p:txBody>
      </p:sp>
      <p:sp>
        <p:nvSpPr>
          <p:cNvPr id="7" name="CuadroTexto 6">
            <a:extLst>
              <a:ext uri="{FF2B5EF4-FFF2-40B4-BE49-F238E27FC236}">
                <a16:creationId xmlns:a16="http://schemas.microsoft.com/office/drawing/2014/main" id="{192FE50B-E6B3-93C3-3973-13C709EC4285}"/>
              </a:ext>
            </a:extLst>
          </p:cNvPr>
          <p:cNvSpPr txBox="1"/>
          <p:nvPr/>
        </p:nvSpPr>
        <p:spPr>
          <a:xfrm>
            <a:off x="5600910" y="4906362"/>
            <a:ext cx="6093724" cy="646331"/>
          </a:xfrm>
          <a:prstGeom prst="rect">
            <a:avLst/>
          </a:prstGeom>
          <a:noFill/>
        </p:spPr>
        <p:txBody>
          <a:bodyPr wrap="square">
            <a:spAutoFit/>
          </a:bodyPr>
          <a:lstStyle/>
          <a:p>
            <a:endParaRPr lang="es-MX" dirty="0"/>
          </a:p>
          <a:p>
            <a:r>
              <a:rPr lang="es-MX" dirty="0"/>
              <a:t>Creado en </a:t>
            </a:r>
            <a:r>
              <a:rPr lang="es-MX" b="1" dirty="0">
                <a:solidFill>
                  <a:srgbClr val="0070C0"/>
                </a:solidFill>
              </a:rPr>
              <a:t>1986</a:t>
            </a:r>
            <a:r>
              <a:rPr lang="es-MX" dirty="0"/>
              <a:t> y diseñado por </a:t>
            </a:r>
            <a:r>
              <a:rPr lang="es-MX" b="1" dirty="0">
                <a:solidFill>
                  <a:srgbClr val="0070C0"/>
                </a:solidFill>
              </a:rPr>
              <a:t>Enrique Castrillo</a:t>
            </a:r>
          </a:p>
        </p:txBody>
      </p:sp>
    </p:spTree>
    <p:extLst>
      <p:ext uri="{BB962C8B-B14F-4D97-AF65-F5344CB8AC3E}">
        <p14:creationId xmlns:p14="http://schemas.microsoft.com/office/powerpoint/2010/main" val="342161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19" name="Rectangle 13318">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1" name="Rectangle 13320">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3" name="Rectangle 13322">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62DBDEA-C526-0D8F-7C6D-20839A339946}"/>
              </a:ext>
            </a:extLst>
          </p:cNvPr>
          <p:cNvSpPr>
            <a:spLocks noGrp="1"/>
          </p:cNvSpPr>
          <p:nvPr>
            <p:ph type="title"/>
          </p:nvPr>
        </p:nvSpPr>
        <p:spPr>
          <a:xfrm>
            <a:off x="399076" y="551063"/>
            <a:ext cx="3790788" cy="841009"/>
          </a:xfrm>
        </p:spPr>
        <p:txBody>
          <a:bodyPr>
            <a:normAutofit/>
          </a:bodyPr>
          <a:lstStyle/>
          <a:p>
            <a:pPr algn="ctr"/>
            <a:r>
              <a:rPr lang="es-MX" dirty="0"/>
              <a:t>Python</a:t>
            </a:r>
          </a:p>
        </p:txBody>
      </p:sp>
      <p:sp>
        <p:nvSpPr>
          <p:cNvPr id="3" name="Marcador de contenido 2">
            <a:extLst>
              <a:ext uri="{FF2B5EF4-FFF2-40B4-BE49-F238E27FC236}">
                <a16:creationId xmlns:a16="http://schemas.microsoft.com/office/drawing/2014/main" id="{E90BFC20-578D-7CFB-6FE3-59D16846A3EC}"/>
              </a:ext>
            </a:extLst>
          </p:cNvPr>
          <p:cNvSpPr>
            <a:spLocks noGrp="1"/>
          </p:cNvSpPr>
          <p:nvPr>
            <p:ph idx="1"/>
          </p:nvPr>
        </p:nvSpPr>
        <p:spPr>
          <a:xfrm>
            <a:off x="5763820" y="565153"/>
            <a:ext cx="5310579" cy="5876590"/>
          </a:xfrm>
        </p:spPr>
        <p:txBody>
          <a:bodyPr>
            <a:normAutofit fontScale="92500" lnSpcReduction="10000"/>
          </a:bodyPr>
          <a:lstStyle/>
          <a:p>
            <a:pPr algn="just"/>
            <a:r>
              <a:rPr lang="es-US" b="1" dirty="0">
                <a:solidFill>
                  <a:srgbClr val="0070C0"/>
                </a:solidFill>
              </a:rPr>
              <a:t>El 16 de octubre del 2000 </a:t>
            </a:r>
            <a:r>
              <a:rPr lang="es-US" dirty="0"/>
              <a:t>se lanza </a:t>
            </a:r>
            <a:r>
              <a:rPr lang="es-US" b="1" dirty="0">
                <a:solidFill>
                  <a:srgbClr val="0070C0"/>
                </a:solidFill>
              </a:rPr>
              <a:t>Python 2.0 </a:t>
            </a:r>
            <a:r>
              <a:rPr lang="es-US" dirty="0"/>
              <a:t>que contenía nuevas características como completa recolección de basura y completo soporte a Unicode. Pero el mayor avance lo constituye que este comenzó a ser verdaderamente desarrollado por la comunidad, bajo la dirección de Guido.</a:t>
            </a:r>
          </a:p>
          <a:p>
            <a:pPr algn="just"/>
            <a:r>
              <a:rPr lang="es-US" b="1" dirty="0">
                <a:solidFill>
                  <a:srgbClr val="0070C0"/>
                </a:solidFill>
              </a:rPr>
              <a:t>El Python 3.0 </a:t>
            </a:r>
            <a:r>
              <a:rPr lang="es-US" dirty="0"/>
              <a:t>es una versión mayor e incompatible con las anteriores en muchos aspectos, que llega después de un largo período de pruebas </a:t>
            </a:r>
            <a:r>
              <a:rPr lang="es-US" b="1" dirty="0">
                <a:solidFill>
                  <a:srgbClr val="0070C0"/>
                </a:solidFill>
              </a:rPr>
              <a:t>el 3 de diciembre del 2008</a:t>
            </a:r>
            <a:r>
              <a:rPr lang="es-US" dirty="0"/>
              <a:t>. Muchas de las características introducidas en la versión 3 han sido compatibilizadas en la versión 2.6 para hacer de forma más sencilla la transición entre estas.</a:t>
            </a:r>
            <a:endParaRPr lang="es-MX" dirty="0"/>
          </a:p>
        </p:txBody>
      </p:sp>
      <p:pic>
        <p:nvPicPr>
          <p:cNvPr id="13314" name="Picture 2" descr="El creador de Python deja su jubilación porque se aburre y entra a trabajar  en Microsoft">
            <a:extLst>
              <a:ext uri="{FF2B5EF4-FFF2-40B4-BE49-F238E27FC236}">
                <a16:creationId xmlns:a16="http://schemas.microsoft.com/office/drawing/2014/main" id="{02281210-BAE8-EDDD-23DC-B4C9F6121C7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7258" y="1711918"/>
            <a:ext cx="4254423" cy="255265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CFA1D09-FD98-3A57-595A-CF514D9119F2}"/>
              </a:ext>
            </a:extLst>
          </p:cNvPr>
          <p:cNvSpPr txBox="1"/>
          <p:nvPr/>
        </p:nvSpPr>
        <p:spPr>
          <a:xfrm>
            <a:off x="167258" y="4718838"/>
            <a:ext cx="4704993" cy="1384995"/>
          </a:xfrm>
          <a:prstGeom prst="rect">
            <a:avLst/>
          </a:prstGeom>
          <a:noFill/>
        </p:spPr>
        <p:txBody>
          <a:bodyPr wrap="square">
            <a:spAutoFit/>
          </a:bodyPr>
          <a:lstStyle/>
          <a:p>
            <a:pPr marL="0" indent="0" algn="just">
              <a:buNone/>
            </a:pPr>
            <a:r>
              <a:rPr lang="es-US" sz="1400" b="1" dirty="0">
                <a:solidFill>
                  <a:srgbClr val="0070C0"/>
                </a:solidFill>
              </a:rPr>
              <a:t>Python</a:t>
            </a:r>
            <a:r>
              <a:rPr lang="es-US" sz="1400" dirty="0"/>
              <a:t> fue creado por </a:t>
            </a:r>
            <a:r>
              <a:rPr lang="es-US" sz="1400" b="1" dirty="0">
                <a:solidFill>
                  <a:srgbClr val="0070C0"/>
                </a:solidFill>
              </a:rPr>
              <a:t>Guido van Rossum</a:t>
            </a:r>
            <a:r>
              <a:rPr lang="es-US" sz="1400" dirty="0"/>
              <a:t>, un programador holandés a finales de </a:t>
            </a:r>
            <a:r>
              <a:rPr lang="es-US" sz="1400" b="1" dirty="0">
                <a:solidFill>
                  <a:srgbClr val="0070C0"/>
                </a:solidFill>
              </a:rPr>
              <a:t>1980</a:t>
            </a:r>
            <a:r>
              <a:rPr lang="es-US" sz="1400" dirty="0"/>
              <a:t> y principio de los 90 cuando se encontraba trabajando en el sistema operativo </a:t>
            </a:r>
            <a:r>
              <a:rPr lang="es-US" sz="1400" dirty="0" err="1"/>
              <a:t>Amoeba</a:t>
            </a:r>
            <a:r>
              <a:rPr lang="es-US" sz="1400" dirty="0"/>
              <a:t>. Primariamente se concibe para manejar excepciones y tener interfaces con </a:t>
            </a:r>
            <a:r>
              <a:rPr lang="es-US" sz="1400" dirty="0" err="1"/>
              <a:t>Amoeba</a:t>
            </a:r>
            <a:r>
              <a:rPr lang="es-US" sz="1400" dirty="0"/>
              <a:t> como sucesor del lenguaje ABC.</a:t>
            </a:r>
          </a:p>
        </p:txBody>
      </p:sp>
    </p:spTree>
    <p:extLst>
      <p:ext uri="{BB962C8B-B14F-4D97-AF65-F5344CB8AC3E}">
        <p14:creationId xmlns:p14="http://schemas.microsoft.com/office/powerpoint/2010/main" val="1935433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53" name="Rectangle 14342">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4" name="Rectangle 14344">
            <a:extLst>
              <a:ext uri="{FF2B5EF4-FFF2-40B4-BE49-F238E27FC236}">
                <a16:creationId xmlns:a16="http://schemas.microsoft.com/office/drawing/2014/main" id="{6DA97320-228E-48F3-BCFA-423F983C8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58144" y="566928"/>
            <a:ext cx="1133856" cy="6291072"/>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355" name="Rectangle 14346">
            <a:extLst>
              <a:ext uri="{FF2B5EF4-FFF2-40B4-BE49-F238E27FC236}">
                <a16:creationId xmlns:a16="http://schemas.microsoft.com/office/drawing/2014/main" id="{2C9F0975-851A-4FEC-B19A-6EC12C0D5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5072"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F7931687-47ED-1F70-418C-BD1AA18A0029}"/>
              </a:ext>
            </a:extLst>
          </p:cNvPr>
          <p:cNvSpPr>
            <a:spLocks noGrp="1"/>
          </p:cNvSpPr>
          <p:nvPr>
            <p:ph type="title"/>
          </p:nvPr>
        </p:nvSpPr>
        <p:spPr>
          <a:xfrm>
            <a:off x="758952" y="455613"/>
            <a:ext cx="4767031" cy="771567"/>
          </a:xfrm>
        </p:spPr>
        <p:txBody>
          <a:bodyPr>
            <a:normAutofit/>
          </a:bodyPr>
          <a:lstStyle/>
          <a:p>
            <a:r>
              <a:rPr lang="es-MX" dirty="0"/>
              <a:t>Visual Basic</a:t>
            </a:r>
          </a:p>
        </p:txBody>
      </p:sp>
      <p:sp>
        <p:nvSpPr>
          <p:cNvPr id="3" name="Marcador de contenido 2">
            <a:extLst>
              <a:ext uri="{FF2B5EF4-FFF2-40B4-BE49-F238E27FC236}">
                <a16:creationId xmlns:a16="http://schemas.microsoft.com/office/drawing/2014/main" id="{D2D698C2-2E63-2936-7A56-3EB1C1CB910E}"/>
              </a:ext>
            </a:extLst>
          </p:cNvPr>
          <p:cNvSpPr>
            <a:spLocks noGrp="1"/>
          </p:cNvSpPr>
          <p:nvPr>
            <p:ph idx="1"/>
          </p:nvPr>
        </p:nvSpPr>
        <p:spPr>
          <a:xfrm>
            <a:off x="704512" y="1543092"/>
            <a:ext cx="4767031" cy="4859295"/>
          </a:xfrm>
        </p:spPr>
        <p:txBody>
          <a:bodyPr>
            <a:normAutofit fontScale="92500" lnSpcReduction="10000"/>
          </a:bodyPr>
          <a:lstStyle/>
          <a:p>
            <a:pPr algn="just"/>
            <a:r>
              <a:rPr lang="es-US" b="1" dirty="0">
                <a:solidFill>
                  <a:srgbClr val="0070C0"/>
                </a:solidFill>
              </a:rPr>
              <a:t>Visual Basic </a:t>
            </a:r>
            <a:r>
              <a:rPr lang="es-US" dirty="0"/>
              <a:t>(VB) es un lenguaje de programación dirigido por eventos, desarrollado por </a:t>
            </a:r>
            <a:r>
              <a:rPr lang="es-US" b="1" dirty="0">
                <a:solidFill>
                  <a:srgbClr val="0070C0"/>
                </a:solidFill>
              </a:rPr>
              <a:t>Alan Cooper </a:t>
            </a:r>
            <a:r>
              <a:rPr lang="es-US" dirty="0"/>
              <a:t>para Microsoft. Este lenguaje de programación es un dialecto de BASIC, con importantes agregados. Su primera versión fue presentada en </a:t>
            </a:r>
            <a:r>
              <a:rPr lang="es-US" b="1" dirty="0">
                <a:solidFill>
                  <a:srgbClr val="0070C0"/>
                </a:solidFill>
              </a:rPr>
              <a:t>1991,</a:t>
            </a:r>
            <a:r>
              <a:rPr lang="es-US" dirty="0"/>
              <a:t> con la intención de simplificar la programación utilizando un ambiente de desarrollo.</a:t>
            </a:r>
          </a:p>
          <a:p>
            <a:pPr algn="just"/>
            <a:endParaRPr lang="es-US" dirty="0"/>
          </a:p>
          <a:p>
            <a:pPr algn="just"/>
            <a:r>
              <a:rPr lang="es-US" dirty="0"/>
              <a:t>La última versión fue la 6, liberada en </a:t>
            </a:r>
            <a:r>
              <a:rPr lang="es-US" b="1" dirty="0">
                <a:solidFill>
                  <a:srgbClr val="0070C0"/>
                </a:solidFill>
              </a:rPr>
              <a:t>1998</a:t>
            </a:r>
            <a:r>
              <a:rPr lang="es-US" dirty="0"/>
              <a:t>, para la que Microsoft extendió el soporte hasta marzo de </a:t>
            </a:r>
            <a:r>
              <a:rPr lang="es-US" b="1" dirty="0">
                <a:solidFill>
                  <a:srgbClr val="0070C0"/>
                </a:solidFill>
              </a:rPr>
              <a:t>2008.</a:t>
            </a:r>
            <a:endParaRPr lang="es-MX" b="1" dirty="0">
              <a:solidFill>
                <a:srgbClr val="0070C0"/>
              </a:solidFill>
            </a:endParaRPr>
          </a:p>
        </p:txBody>
      </p:sp>
      <p:pic>
        <p:nvPicPr>
          <p:cNvPr id="14338" name="Picture 2" descr="Alan Cooper, el “padre de Visual BASIC” - El Sur Acapulco suracapulco I  Noticias Acapulco Guerrero">
            <a:extLst>
              <a:ext uri="{FF2B5EF4-FFF2-40B4-BE49-F238E27FC236}">
                <a16:creationId xmlns:a16="http://schemas.microsoft.com/office/drawing/2014/main" id="{4024E26C-532C-25E9-7AE7-9B58BCE976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6054" y="1227180"/>
            <a:ext cx="4245788" cy="4245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169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7" name="Rectangle 15366">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369" name="Rectangle 15368">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5371" name="Rectangle 15370">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121859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descr="LCG | Nace el creador de Java: James Gosling">
            <a:extLst>
              <a:ext uri="{FF2B5EF4-FFF2-40B4-BE49-F238E27FC236}">
                <a16:creationId xmlns:a16="http://schemas.microsoft.com/office/drawing/2014/main" id="{7E7EEAFE-7CFC-41EA-C3D0-88A04CBB0E6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541" b="14873"/>
          <a:stretch/>
        </p:blipFill>
        <p:spPr bwMode="auto">
          <a:xfrm>
            <a:off x="-6076"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5373" name="Rectangle">
            <a:extLst>
              <a:ext uri="{FF2B5EF4-FFF2-40B4-BE49-F238E27FC236}">
                <a16:creationId xmlns:a16="http://schemas.microsoft.com/office/drawing/2014/main" id="{44037D61-FFBD-0342-90C5-D1AD7C899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02096"/>
            <a:ext cx="9421303" cy="2755904"/>
          </a:xfrm>
          <a:prstGeom prst="rect">
            <a:avLst/>
          </a:prstGeom>
          <a:solidFill>
            <a:schemeClr val="bg1">
              <a:alpha val="85000"/>
            </a:schemeClr>
          </a:solidFill>
          <a:ln w="12700">
            <a:miter lim="400000"/>
          </a:ln>
        </p:spPr>
        <p:txBody>
          <a:bodyPr lIns="50800" tIns="50800" rIns="50800" bIns="50800" anchor="ctr"/>
          <a:lstStyle/>
          <a:p>
            <a:pPr algn="ctr" defTabSz="457200"/>
            <a:endParaRPr sz="2600" cap="all" dirty="0">
              <a:solidFill>
                <a:srgbClr val="FFFFFF"/>
              </a:solidFill>
              <a:sym typeface="Avenir Next"/>
            </a:endParaRPr>
          </a:p>
        </p:txBody>
      </p:sp>
      <p:sp>
        <p:nvSpPr>
          <p:cNvPr id="15375" name="Rectangle 15374">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1302"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377" name="Rectangle 15376">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8433"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558D5DFD-B1CA-FA5F-65A2-9EBB3A30F668}"/>
              </a:ext>
            </a:extLst>
          </p:cNvPr>
          <p:cNvSpPr>
            <a:spLocks noGrp="1"/>
          </p:cNvSpPr>
          <p:nvPr>
            <p:ph type="title"/>
          </p:nvPr>
        </p:nvSpPr>
        <p:spPr>
          <a:xfrm>
            <a:off x="514147" y="179913"/>
            <a:ext cx="8393008" cy="1015663"/>
          </a:xfrm>
        </p:spPr>
        <p:txBody>
          <a:bodyPr vert="horz" lIns="91440" tIns="45720" rIns="91440" bIns="45720" rtlCol="0" anchor="b">
            <a:normAutofit/>
          </a:bodyPr>
          <a:lstStyle/>
          <a:p>
            <a:r>
              <a:rPr lang="en-US" sz="5400" dirty="0">
                <a:ln>
                  <a:solidFill>
                    <a:schemeClr val="bg1"/>
                  </a:solidFill>
                </a:ln>
              </a:rPr>
              <a:t>JAVA </a:t>
            </a:r>
            <a:r>
              <a:rPr lang="en-US" sz="5400" dirty="0" err="1">
                <a:ln>
                  <a:solidFill>
                    <a:schemeClr val="bg1"/>
                  </a:solidFill>
                </a:ln>
              </a:rPr>
              <a:t>en</a:t>
            </a:r>
            <a:r>
              <a:rPr lang="en-US" sz="5400" dirty="0">
                <a:ln>
                  <a:solidFill>
                    <a:schemeClr val="bg1"/>
                  </a:solidFill>
                </a:ln>
              </a:rPr>
              <a:t> 1983…</a:t>
            </a:r>
          </a:p>
        </p:txBody>
      </p:sp>
      <p:sp>
        <p:nvSpPr>
          <p:cNvPr id="5" name="CuadroTexto 4">
            <a:extLst>
              <a:ext uri="{FF2B5EF4-FFF2-40B4-BE49-F238E27FC236}">
                <a16:creationId xmlns:a16="http://schemas.microsoft.com/office/drawing/2014/main" id="{3CE555B5-5051-E048-023F-E3288CAF94A8}"/>
              </a:ext>
            </a:extLst>
          </p:cNvPr>
          <p:cNvSpPr txBox="1"/>
          <p:nvPr/>
        </p:nvSpPr>
        <p:spPr>
          <a:xfrm>
            <a:off x="433714" y="1448343"/>
            <a:ext cx="4673965" cy="2308324"/>
          </a:xfrm>
          <a:prstGeom prst="rect">
            <a:avLst/>
          </a:prstGeom>
          <a:noFill/>
        </p:spPr>
        <p:txBody>
          <a:bodyPr wrap="square">
            <a:spAutoFit/>
          </a:bodyPr>
          <a:lstStyle/>
          <a:p>
            <a:pPr algn="just"/>
            <a:r>
              <a:rPr lang="es-MX" dirty="0">
                <a:solidFill>
                  <a:schemeClr val="bg1">
                    <a:lumMod val="95000"/>
                    <a:lumOff val="5000"/>
                  </a:schemeClr>
                </a:solidFill>
              </a:rPr>
              <a:t>El lenguaje de programación </a:t>
            </a:r>
            <a:r>
              <a:rPr lang="es-MX" b="1" dirty="0">
                <a:solidFill>
                  <a:srgbClr val="0070C0"/>
                </a:solidFill>
              </a:rPr>
              <a:t>Java</a:t>
            </a:r>
            <a:r>
              <a:rPr lang="es-MX" dirty="0">
                <a:solidFill>
                  <a:schemeClr val="bg1">
                    <a:lumMod val="95000"/>
                    <a:lumOff val="5000"/>
                  </a:schemeClr>
                </a:solidFill>
              </a:rPr>
              <a:t> fue desarrollado originalmente por </a:t>
            </a:r>
            <a:r>
              <a:rPr lang="es-MX" b="1" dirty="0">
                <a:solidFill>
                  <a:srgbClr val="0070C0"/>
                </a:solidFill>
              </a:rPr>
              <a:t>James Gosling</a:t>
            </a:r>
            <a:r>
              <a:rPr lang="es-MX" dirty="0">
                <a:solidFill>
                  <a:schemeClr val="bg1">
                    <a:lumMod val="95000"/>
                    <a:lumOff val="5000"/>
                  </a:schemeClr>
                </a:solidFill>
              </a:rPr>
              <a:t>, de </a:t>
            </a:r>
            <a:r>
              <a:rPr lang="es-MX" dirty="0" err="1">
                <a:solidFill>
                  <a:schemeClr val="bg1">
                    <a:lumMod val="95000"/>
                    <a:lumOff val="5000"/>
                  </a:schemeClr>
                </a:solidFill>
              </a:rPr>
              <a:t>Sun</a:t>
            </a:r>
            <a:r>
              <a:rPr lang="es-MX" dirty="0">
                <a:solidFill>
                  <a:schemeClr val="bg1">
                    <a:lumMod val="95000"/>
                    <a:lumOff val="5000"/>
                  </a:schemeClr>
                </a:solidFill>
              </a:rPr>
              <a:t> Microsystems (constituida en </a:t>
            </a:r>
            <a:r>
              <a:rPr lang="es-MX" b="1" dirty="0">
                <a:solidFill>
                  <a:srgbClr val="0070C0"/>
                </a:solidFill>
              </a:rPr>
              <a:t>1983</a:t>
            </a:r>
            <a:r>
              <a:rPr lang="es-MX" dirty="0">
                <a:solidFill>
                  <a:schemeClr val="bg1">
                    <a:lumMod val="95000"/>
                    <a:lumOff val="5000"/>
                  </a:schemeClr>
                </a:solidFill>
              </a:rPr>
              <a:t> y posteriormente adquirida el 27 de enero de 2010 por la compañía Oracle),​ y publicado en 1995 como un componente fundamental de la plataforma Java de </a:t>
            </a:r>
            <a:r>
              <a:rPr lang="es-MX" dirty="0" err="1">
                <a:solidFill>
                  <a:schemeClr val="bg1">
                    <a:lumMod val="95000"/>
                    <a:lumOff val="5000"/>
                  </a:schemeClr>
                </a:solidFill>
              </a:rPr>
              <a:t>Sun</a:t>
            </a:r>
            <a:r>
              <a:rPr lang="es-MX" dirty="0">
                <a:solidFill>
                  <a:schemeClr val="bg1">
                    <a:lumMod val="95000"/>
                    <a:lumOff val="5000"/>
                  </a:schemeClr>
                </a:solidFill>
              </a:rPr>
              <a:t> Microsystems.</a:t>
            </a:r>
          </a:p>
        </p:txBody>
      </p:sp>
      <p:sp>
        <p:nvSpPr>
          <p:cNvPr id="9" name="CuadroTexto 8">
            <a:extLst>
              <a:ext uri="{FF2B5EF4-FFF2-40B4-BE49-F238E27FC236}">
                <a16:creationId xmlns:a16="http://schemas.microsoft.com/office/drawing/2014/main" id="{8CE1722B-42FE-B2DA-63E3-CDF7B8438E7C}"/>
              </a:ext>
            </a:extLst>
          </p:cNvPr>
          <p:cNvSpPr txBox="1"/>
          <p:nvPr/>
        </p:nvSpPr>
        <p:spPr>
          <a:xfrm>
            <a:off x="668740" y="4741384"/>
            <a:ext cx="8238415" cy="1477328"/>
          </a:xfrm>
          <a:prstGeom prst="rect">
            <a:avLst/>
          </a:prstGeom>
          <a:noFill/>
        </p:spPr>
        <p:txBody>
          <a:bodyPr wrap="square">
            <a:spAutoFit/>
          </a:bodyPr>
          <a:lstStyle/>
          <a:p>
            <a:pPr algn="just"/>
            <a:r>
              <a:rPr lang="es-MX" dirty="0"/>
              <a:t>Su sintaxis deriva en gran medida de C y C++, pero tiene menos utilidades de bajo nivel que cualquiera de ellos. Las aplicaciones de Java son compiladas a </a:t>
            </a:r>
            <a:r>
              <a:rPr lang="es-MX" dirty="0" err="1"/>
              <a:t>bytecode</a:t>
            </a:r>
            <a:r>
              <a:rPr lang="es-MX" dirty="0"/>
              <a:t> (clase Java), que puede ejecutarse en cualquier máquina virtual Java (JVM) sin importar la arquitectura de la computadora subyacente.</a:t>
            </a:r>
          </a:p>
        </p:txBody>
      </p:sp>
      <p:pic>
        <p:nvPicPr>
          <p:cNvPr id="15364" name="Picture 4" descr="Logo de Java: la historia y el significado del logotipo, la marca y el  símbolo. | png, vector">
            <a:extLst>
              <a:ext uri="{FF2B5EF4-FFF2-40B4-BE49-F238E27FC236}">
                <a16:creationId xmlns:a16="http://schemas.microsoft.com/office/drawing/2014/main" id="{0FEA628B-2AD4-89D7-E658-E71FB1E5F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4104" y="4492435"/>
            <a:ext cx="3160362" cy="1975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771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7" name="Rectangle 25606">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9" name="Rectangle 25608">
            <a:extLst>
              <a:ext uri="{FF2B5EF4-FFF2-40B4-BE49-F238E27FC236}">
                <a16:creationId xmlns:a16="http://schemas.microsoft.com/office/drawing/2014/main" id="{6DA97320-228E-48F3-BCFA-423F983C8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58144" y="566928"/>
            <a:ext cx="1133856" cy="6291072"/>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5611" name="Rectangle 25610">
            <a:extLst>
              <a:ext uri="{FF2B5EF4-FFF2-40B4-BE49-F238E27FC236}">
                <a16:creationId xmlns:a16="http://schemas.microsoft.com/office/drawing/2014/main" id="{2C9F0975-851A-4FEC-B19A-6EC12C0D5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5072"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69D57726-8B9D-C660-3498-E9421A8A69B9}"/>
              </a:ext>
            </a:extLst>
          </p:cNvPr>
          <p:cNvSpPr>
            <a:spLocks noGrp="1"/>
          </p:cNvSpPr>
          <p:nvPr>
            <p:ph type="title"/>
          </p:nvPr>
        </p:nvSpPr>
        <p:spPr>
          <a:xfrm>
            <a:off x="3789490" y="330164"/>
            <a:ext cx="4767031" cy="963753"/>
          </a:xfrm>
        </p:spPr>
        <p:txBody>
          <a:bodyPr>
            <a:normAutofit/>
          </a:bodyPr>
          <a:lstStyle/>
          <a:p>
            <a:r>
              <a:rPr lang="es-MX" dirty="0"/>
              <a:t>Perl</a:t>
            </a:r>
          </a:p>
        </p:txBody>
      </p:sp>
      <p:sp>
        <p:nvSpPr>
          <p:cNvPr id="3" name="Marcador de contenido 2">
            <a:extLst>
              <a:ext uri="{FF2B5EF4-FFF2-40B4-BE49-F238E27FC236}">
                <a16:creationId xmlns:a16="http://schemas.microsoft.com/office/drawing/2014/main" id="{19D02F24-A120-48AB-8151-3D341DFADFAD}"/>
              </a:ext>
            </a:extLst>
          </p:cNvPr>
          <p:cNvSpPr>
            <a:spLocks noGrp="1"/>
          </p:cNvSpPr>
          <p:nvPr>
            <p:ph idx="1"/>
          </p:nvPr>
        </p:nvSpPr>
        <p:spPr>
          <a:xfrm>
            <a:off x="758952" y="1419367"/>
            <a:ext cx="4536379" cy="4831307"/>
          </a:xfrm>
        </p:spPr>
        <p:txBody>
          <a:bodyPr>
            <a:normAutofit/>
          </a:bodyPr>
          <a:lstStyle/>
          <a:p>
            <a:pPr algn="just">
              <a:lnSpc>
                <a:spcPct val="100000"/>
              </a:lnSpc>
            </a:pPr>
            <a:r>
              <a:rPr lang="es-US" sz="1700" dirty="0"/>
              <a:t>Perl es un lenguaje de programación </a:t>
            </a:r>
            <a:r>
              <a:rPr lang="es-US" sz="1700" b="1" dirty="0">
                <a:solidFill>
                  <a:srgbClr val="0070C0"/>
                </a:solidFill>
              </a:rPr>
              <a:t>diseñado por Larry Wall en 1987. </a:t>
            </a:r>
            <a:r>
              <a:rPr lang="es-US" sz="1700" dirty="0"/>
              <a:t>Perl toma características del lenguaje C, del lenguaje interpretado </a:t>
            </a:r>
            <a:r>
              <a:rPr lang="es-US" sz="1700" dirty="0" err="1"/>
              <a:t>bourne</a:t>
            </a:r>
            <a:r>
              <a:rPr lang="es-US" sz="1700" dirty="0"/>
              <a:t> </a:t>
            </a:r>
            <a:r>
              <a:rPr lang="es-US" sz="1700" dirty="0" err="1"/>
              <a:t>shell</a:t>
            </a:r>
            <a:r>
              <a:rPr lang="es-US" sz="1700" dirty="0"/>
              <a:t> (</a:t>
            </a:r>
            <a:r>
              <a:rPr lang="es-US" sz="1700" dirty="0" err="1"/>
              <a:t>sh</a:t>
            </a:r>
            <a:r>
              <a:rPr lang="es-US" sz="1700" dirty="0"/>
              <a:t>), AWK, sed, Lisp y, en un grado inferior, de muchos otros lenguajes de programación.</a:t>
            </a:r>
          </a:p>
          <a:p>
            <a:pPr algn="just">
              <a:lnSpc>
                <a:spcPct val="100000"/>
              </a:lnSpc>
            </a:pPr>
            <a:endParaRPr lang="es-US" sz="1700" dirty="0"/>
          </a:p>
          <a:p>
            <a:pPr algn="just">
              <a:lnSpc>
                <a:spcPct val="100000"/>
              </a:lnSpc>
            </a:pPr>
            <a:r>
              <a:rPr lang="es-US" sz="1700" dirty="0"/>
              <a:t>Estructuralmente, Perl está basado en un estilo de bloques como los del C o AWK, y fue ampliamente </a:t>
            </a:r>
            <a:r>
              <a:rPr lang="es-US" sz="1700" b="1" dirty="0">
                <a:solidFill>
                  <a:srgbClr val="0070C0"/>
                </a:solidFill>
              </a:rPr>
              <a:t>adoptado por su destreza en el procesado de texto </a:t>
            </a:r>
            <a:r>
              <a:rPr lang="es-US" sz="1700" dirty="0"/>
              <a:t>y no tener ninguna de las limitaciones de los otros lenguajes de script.</a:t>
            </a:r>
            <a:endParaRPr lang="es-MX" sz="1700" dirty="0"/>
          </a:p>
        </p:txBody>
      </p:sp>
      <p:pic>
        <p:nvPicPr>
          <p:cNvPr id="25602" name="Picture 2" descr="Perl">
            <a:extLst>
              <a:ext uri="{FF2B5EF4-FFF2-40B4-BE49-F238E27FC236}">
                <a16:creationId xmlns:a16="http://schemas.microsoft.com/office/drawing/2014/main" id="{99E016E9-B422-E7B0-9E20-675112830E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6054" y="1227180"/>
            <a:ext cx="4245788" cy="4245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76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B4873B-32C8-D4CD-1F29-08F226382DB2}"/>
              </a:ext>
            </a:extLst>
          </p:cNvPr>
          <p:cNvSpPr>
            <a:spLocks noGrp="1"/>
          </p:cNvSpPr>
          <p:nvPr>
            <p:ph type="title"/>
          </p:nvPr>
        </p:nvSpPr>
        <p:spPr/>
        <p:txBody>
          <a:bodyPr/>
          <a:lstStyle/>
          <a:p>
            <a:pPr algn="ctr"/>
            <a:r>
              <a:rPr lang="es-MX" dirty="0"/>
              <a:t>Lenguaje de Programación R en 1993</a:t>
            </a:r>
          </a:p>
        </p:txBody>
      </p:sp>
      <p:pic>
        <p:nvPicPr>
          <p:cNvPr id="26630" name="Picture 6">
            <a:extLst>
              <a:ext uri="{FF2B5EF4-FFF2-40B4-BE49-F238E27FC236}">
                <a16:creationId xmlns:a16="http://schemas.microsoft.com/office/drawing/2014/main" id="{8C6457AB-257F-7010-4189-33E929FBA1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4562" y="4154160"/>
            <a:ext cx="2706263" cy="208382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23918B9-C498-C596-8FF7-D09E1A89345F}"/>
              </a:ext>
            </a:extLst>
          </p:cNvPr>
          <p:cNvSpPr txBox="1"/>
          <p:nvPr/>
        </p:nvSpPr>
        <p:spPr>
          <a:xfrm>
            <a:off x="6851176" y="2267664"/>
            <a:ext cx="4094328" cy="3970318"/>
          </a:xfrm>
          <a:prstGeom prst="rect">
            <a:avLst/>
          </a:prstGeom>
          <a:noFill/>
        </p:spPr>
        <p:txBody>
          <a:bodyPr wrap="square">
            <a:spAutoFit/>
          </a:bodyPr>
          <a:lstStyle/>
          <a:p>
            <a:pPr algn="just"/>
            <a:r>
              <a:rPr lang="es-MX" dirty="0"/>
              <a:t>R nació como una reimplementación de software libre del lenguaje S, adicionado con soporte para ámbito estático. </a:t>
            </a:r>
          </a:p>
          <a:p>
            <a:pPr algn="just"/>
            <a:endParaRPr lang="es-MX" dirty="0"/>
          </a:p>
          <a:p>
            <a:pPr algn="just"/>
            <a:r>
              <a:rPr lang="es-MX" dirty="0"/>
              <a:t>Se trata de uno de los lenguajes de programación más utilizados en investigación científica, </a:t>
            </a:r>
            <a:r>
              <a:rPr lang="es-MX" b="1" dirty="0">
                <a:solidFill>
                  <a:srgbClr val="0070C0"/>
                </a:solidFill>
              </a:rPr>
              <a:t>siendo además muy popular en los campos de aprendizaje automático</a:t>
            </a:r>
            <a:r>
              <a:rPr lang="es-MX" dirty="0"/>
              <a:t> (machine </a:t>
            </a:r>
            <a:r>
              <a:rPr lang="es-MX" dirty="0" err="1"/>
              <a:t>learning</a:t>
            </a:r>
            <a:r>
              <a:rPr lang="es-MX" dirty="0"/>
              <a:t>), </a:t>
            </a:r>
            <a:r>
              <a:rPr lang="es-MX" b="1" dirty="0">
                <a:solidFill>
                  <a:srgbClr val="0070C0"/>
                </a:solidFill>
              </a:rPr>
              <a:t>minería de datos, investigación biomédica, bioinformática y matemáticas financieras.</a:t>
            </a:r>
          </a:p>
        </p:txBody>
      </p:sp>
      <p:sp>
        <p:nvSpPr>
          <p:cNvPr id="7" name="CuadroTexto 6">
            <a:extLst>
              <a:ext uri="{FF2B5EF4-FFF2-40B4-BE49-F238E27FC236}">
                <a16:creationId xmlns:a16="http://schemas.microsoft.com/office/drawing/2014/main" id="{2E8282A6-B3B0-3444-4788-3D9D41CB9003}"/>
              </a:ext>
            </a:extLst>
          </p:cNvPr>
          <p:cNvSpPr txBox="1"/>
          <p:nvPr/>
        </p:nvSpPr>
        <p:spPr>
          <a:xfrm>
            <a:off x="1473979" y="2149323"/>
            <a:ext cx="4722105" cy="1200329"/>
          </a:xfrm>
          <a:prstGeom prst="rect">
            <a:avLst/>
          </a:prstGeom>
          <a:noFill/>
        </p:spPr>
        <p:txBody>
          <a:bodyPr wrap="square">
            <a:spAutoFit/>
          </a:bodyPr>
          <a:lstStyle/>
          <a:p>
            <a:pPr algn="just"/>
            <a:r>
              <a:rPr lang="es-MX" dirty="0"/>
              <a:t>R es un entorno y lenguaje de programación con un enfoque al análisis estadístico. </a:t>
            </a:r>
            <a:r>
              <a:rPr lang="es-MX" b="1" dirty="0">
                <a:solidFill>
                  <a:srgbClr val="0070C0"/>
                </a:solidFill>
              </a:rPr>
              <a:t>Apareció en	1993</a:t>
            </a:r>
            <a:r>
              <a:rPr lang="es-MX" dirty="0"/>
              <a:t>. Diseñado por	</a:t>
            </a:r>
            <a:r>
              <a:rPr lang="es-MX" b="1" dirty="0">
                <a:solidFill>
                  <a:srgbClr val="0070C0"/>
                </a:solidFill>
              </a:rPr>
              <a:t>Ross </a:t>
            </a:r>
            <a:r>
              <a:rPr lang="es-MX" b="1" dirty="0" err="1">
                <a:solidFill>
                  <a:srgbClr val="0070C0"/>
                </a:solidFill>
              </a:rPr>
              <a:t>Ihaka</a:t>
            </a:r>
            <a:r>
              <a:rPr lang="es-MX" b="1" dirty="0">
                <a:solidFill>
                  <a:srgbClr val="0070C0"/>
                </a:solidFill>
              </a:rPr>
              <a:t> y Robert Gentleman.</a:t>
            </a:r>
          </a:p>
        </p:txBody>
      </p:sp>
    </p:spTree>
    <p:extLst>
      <p:ext uri="{BB962C8B-B14F-4D97-AF65-F5344CB8AC3E}">
        <p14:creationId xmlns:p14="http://schemas.microsoft.com/office/powerpoint/2010/main" val="1090641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5" name="Rectangle 17414">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0" name="Picture 2" descr="Historia de PHP - avancecolaborativo">
            <a:extLst>
              <a:ext uri="{FF2B5EF4-FFF2-40B4-BE49-F238E27FC236}">
                <a16:creationId xmlns:a16="http://schemas.microsoft.com/office/drawing/2014/main" id="{ED3147BD-084C-B6B0-452F-F39A19B684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498" r="18510"/>
          <a:stretch/>
        </p:blipFill>
        <p:spPr bwMode="auto">
          <a:xfrm>
            <a:off x="20" y="10"/>
            <a:ext cx="4651228" cy="6857990"/>
          </a:xfrm>
          <a:prstGeom prst="rect">
            <a:avLst/>
          </a:prstGeom>
          <a:noFill/>
          <a:extLst>
            <a:ext uri="{909E8E84-426E-40DD-AFC4-6F175D3DCCD1}">
              <a14:hiddenFill xmlns:a14="http://schemas.microsoft.com/office/drawing/2010/main">
                <a:solidFill>
                  <a:srgbClr val="FFFFFF"/>
                </a:solidFill>
              </a14:hiddenFill>
            </a:ext>
          </a:extLst>
        </p:spPr>
      </p:pic>
      <p:sp>
        <p:nvSpPr>
          <p:cNvPr id="17417" name="Rectangle 1741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9" name="Rectangle 17418">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74E7A1-DE30-C544-133B-60E287899C39}"/>
              </a:ext>
            </a:extLst>
          </p:cNvPr>
          <p:cNvSpPr>
            <a:spLocks noGrp="1"/>
          </p:cNvSpPr>
          <p:nvPr>
            <p:ph type="title"/>
          </p:nvPr>
        </p:nvSpPr>
        <p:spPr>
          <a:xfrm>
            <a:off x="5127362" y="455363"/>
            <a:ext cx="6881728" cy="827528"/>
          </a:xfrm>
        </p:spPr>
        <p:txBody>
          <a:bodyPr>
            <a:normAutofit/>
          </a:bodyPr>
          <a:lstStyle/>
          <a:p>
            <a:r>
              <a:rPr lang="es-MX" dirty="0"/>
              <a:t>Rasmus Lerdorf y PHP</a:t>
            </a:r>
          </a:p>
        </p:txBody>
      </p:sp>
      <p:pic>
        <p:nvPicPr>
          <p:cNvPr id="17412" name="Picture 4" descr="PHP - Wikipedia, la enciclopedia libre">
            <a:extLst>
              <a:ext uri="{FF2B5EF4-FFF2-40B4-BE49-F238E27FC236}">
                <a16:creationId xmlns:a16="http://schemas.microsoft.com/office/drawing/2014/main" id="{50228182-0FB5-57FC-5998-D53ABF700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0754" y="5616035"/>
            <a:ext cx="2299928" cy="1241961"/>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3CFA1E89-595D-568A-9031-2D8201100F77}"/>
              </a:ext>
            </a:extLst>
          </p:cNvPr>
          <p:cNvSpPr>
            <a:spLocks noGrp="1"/>
          </p:cNvSpPr>
          <p:nvPr>
            <p:ph idx="1"/>
          </p:nvPr>
        </p:nvSpPr>
        <p:spPr>
          <a:xfrm>
            <a:off x="5127362" y="1528549"/>
            <a:ext cx="6881728" cy="4557619"/>
          </a:xfrm>
        </p:spPr>
        <p:txBody>
          <a:bodyPr>
            <a:normAutofit fontScale="92500" lnSpcReduction="10000"/>
          </a:bodyPr>
          <a:lstStyle/>
          <a:p>
            <a:pPr algn="just"/>
            <a:r>
              <a:rPr lang="es-US" b="1" dirty="0">
                <a:solidFill>
                  <a:srgbClr val="0070C0"/>
                </a:solidFill>
              </a:rPr>
              <a:t>Creado en 1994 </a:t>
            </a:r>
            <a:r>
              <a:rPr lang="es-US" dirty="0"/>
              <a:t>por </a:t>
            </a:r>
            <a:r>
              <a:rPr lang="es-US" b="1" dirty="0">
                <a:solidFill>
                  <a:srgbClr val="0070C0"/>
                </a:solidFill>
              </a:rPr>
              <a:t>Rasmus Lerdorf</a:t>
            </a:r>
            <a:r>
              <a:rPr lang="es-US" dirty="0"/>
              <a:t>, la primera encarnación de PHP era un conjunto simple de ficheros binarios </a:t>
            </a:r>
            <a:r>
              <a:rPr lang="es-US" dirty="0" err="1"/>
              <a:t>Common</a:t>
            </a:r>
            <a:r>
              <a:rPr lang="es-US" dirty="0"/>
              <a:t> Gateway Interface (CGI) escritos en el lenguaje de programación C.</a:t>
            </a:r>
          </a:p>
          <a:p>
            <a:pPr algn="just"/>
            <a:r>
              <a:rPr lang="es-US" dirty="0"/>
              <a:t> Originalmente </a:t>
            </a:r>
            <a:r>
              <a:rPr lang="es-US" b="1" dirty="0">
                <a:solidFill>
                  <a:srgbClr val="0070C0"/>
                </a:solidFill>
              </a:rPr>
              <a:t>utilizado para rastrear visitas</a:t>
            </a:r>
            <a:r>
              <a:rPr lang="es-US" dirty="0"/>
              <a:t> de su currículum online, llamó al conjunto de scripts "Personal Home Page Tools", más frecuentemente referenciado como "PHP Tools". </a:t>
            </a:r>
          </a:p>
          <a:p>
            <a:pPr algn="just"/>
            <a:r>
              <a:rPr lang="es-US" dirty="0"/>
              <a:t>Con el paso del tiempo se quiso más funcionalidad, y Rasmus reescribió PHP Tools, produciendo una implementación más grande y rica. Este nuevo modelo fue capaz de interaccionar con bases de datos, y mucho más.</a:t>
            </a:r>
            <a:endParaRPr lang="es-MX" dirty="0"/>
          </a:p>
        </p:txBody>
      </p:sp>
    </p:spTree>
    <p:extLst>
      <p:ext uri="{BB962C8B-B14F-4D97-AF65-F5344CB8AC3E}">
        <p14:creationId xmlns:p14="http://schemas.microsoft.com/office/powerpoint/2010/main" val="4288671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3" name="Rectangle 16392">
            <a:extLst>
              <a:ext uri="{FF2B5EF4-FFF2-40B4-BE49-F238E27FC236}">
                <a16:creationId xmlns:a16="http://schemas.microsoft.com/office/drawing/2014/main" id="{15A8DDA3-B4FC-D445-AA06-C92ABAE24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88543" y="5476671"/>
            <a:ext cx="2770698" cy="138132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6395" name="Rectangle 16394">
            <a:extLst>
              <a:ext uri="{FF2B5EF4-FFF2-40B4-BE49-F238E27FC236}">
                <a16:creationId xmlns:a16="http://schemas.microsoft.com/office/drawing/2014/main" id="{9FD0692D-A304-5E4A-BCD9-C00690321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88542" y="4101177"/>
            <a:ext cx="1373567" cy="2756824"/>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22040885-6132-667D-31D5-14DCD21402EB}"/>
              </a:ext>
            </a:extLst>
          </p:cNvPr>
          <p:cNvSpPr>
            <a:spLocks noGrp="1"/>
          </p:cNvSpPr>
          <p:nvPr>
            <p:ph type="title"/>
          </p:nvPr>
        </p:nvSpPr>
        <p:spPr>
          <a:xfrm>
            <a:off x="5224244" y="455363"/>
            <a:ext cx="6402596" cy="827528"/>
          </a:xfrm>
        </p:spPr>
        <p:txBody>
          <a:bodyPr>
            <a:normAutofit/>
          </a:bodyPr>
          <a:lstStyle/>
          <a:p>
            <a:r>
              <a:rPr lang="es-MX" dirty="0"/>
              <a:t>JAVASCRIPT</a:t>
            </a:r>
          </a:p>
        </p:txBody>
      </p:sp>
      <p:sp>
        <p:nvSpPr>
          <p:cNvPr id="3" name="Marcador de contenido 2">
            <a:extLst>
              <a:ext uri="{FF2B5EF4-FFF2-40B4-BE49-F238E27FC236}">
                <a16:creationId xmlns:a16="http://schemas.microsoft.com/office/drawing/2014/main" id="{95D15419-3054-3AAA-DEBB-36E87438E316}"/>
              </a:ext>
            </a:extLst>
          </p:cNvPr>
          <p:cNvSpPr>
            <a:spLocks noGrp="1"/>
          </p:cNvSpPr>
          <p:nvPr>
            <p:ph idx="1"/>
          </p:nvPr>
        </p:nvSpPr>
        <p:spPr>
          <a:xfrm>
            <a:off x="5224244" y="1487606"/>
            <a:ext cx="6402596" cy="4598562"/>
          </a:xfrm>
        </p:spPr>
        <p:txBody>
          <a:bodyPr>
            <a:normAutofit/>
          </a:bodyPr>
          <a:lstStyle/>
          <a:p>
            <a:r>
              <a:rPr lang="es-US" b="1" dirty="0">
                <a:solidFill>
                  <a:srgbClr val="0070C0"/>
                </a:solidFill>
              </a:rPr>
              <a:t>Brendan </a:t>
            </a:r>
            <a:r>
              <a:rPr lang="es-US" b="1" dirty="0" err="1">
                <a:solidFill>
                  <a:srgbClr val="0070C0"/>
                </a:solidFill>
              </a:rPr>
              <a:t>Eich</a:t>
            </a:r>
            <a:r>
              <a:rPr lang="es-US" b="1" dirty="0">
                <a:solidFill>
                  <a:srgbClr val="0070C0"/>
                </a:solidFill>
              </a:rPr>
              <a:t> </a:t>
            </a:r>
            <a:r>
              <a:rPr lang="es-US" dirty="0"/>
              <a:t>escribió la primera versión de </a:t>
            </a:r>
            <a:r>
              <a:rPr lang="es-US" b="1" dirty="0">
                <a:solidFill>
                  <a:srgbClr val="0070C0"/>
                </a:solidFill>
              </a:rPr>
              <a:t>JavaScript </a:t>
            </a:r>
            <a:r>
              <a:rPr lang="es-US" dirty="0"/>
              <a:t>en tan solo diez días de mayo de </a:t>
            </a:r>
            <a:r>
              <a:rPr lang="es-US" b="1" dirty="0">
                <a:solidFill>
                  <a:srgbClr val="0070C0"/>
                </a:solidFill>
              </a:rPr>
              <a:t>1995.</a:t>
            </a:r>
          </a:p>
          <a:p>
            <a:r>
              <a:rPr lang="es-US" dirty="0"/>
              <a:t>JavaScript es el lenguaje de programación que debes usar para </a:t>
            </a:r>
            <a:r>
              <a:rPr lang="es-US" b="1" dirty="0">
                <a:solidFill>
                  <a:srgbClr val="0070C0"/>
                </a:solidFill>
              </a:rPr>
              <a:t>añadir características interactivas</a:t>
            </a:r>
            <a:r>
              <a:rPr lang="es-US" dirty="0"/>
              <a:t> a tu sitio web, (por ejemplo, juegos, eventos que ocurren cuando los botones son presionados o los datos son introducidos en los formularios, efectos de estilo dinámicos, animación, y mucho más).</a:t>
            </a:r>
            <a:endParaRPr lang="es-MX" dirty="0"/>
          </a:p>
        </p:txBody>
      </p:sp>
      <p:pic>
        <p:nvPicPr>
          <p:cNvPr id="16386" name="Picture 2" descr="JavaScript - Wikipedia, la enciclopedia libre">
            <a:extLst>
              <a:ext uri="{FF2B5EF4-FFF2-40B4-BE49-F238E27FC236}">
                <a16:creationId xmlns:a16="http://schemas.microsoft.com/office/drawing/2014/main" id="{7F2C6C2E-B307-E0B4-7930-C06418B130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88542" y="895990"/>
            <a:ext cx="2780018" cy="2780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765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59" name="Rectangle 23558">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1" name="Rectangle 23560">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3" name="Rectangle 23562">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6B93D72-EB0E-E219-7F14-2A116E4A4A09}"/>
              </a:ext>
            </a:extLst>
          </p:cNvPr>
          <p:cNvSpPr>
            <a:spLocks noGrp="1"/>
          </p:cNvSpPr>
          <p:nvPr>
            <p:ph type="title"/>
          </p:nvPr>
        </p:nvSpPr>
        <p:spPr>
          <a:xfrm>
            <a:off x="1587710" y="455362"/>
            <a:ext cx="3611880" cy="1550419"/>
          </a:xfrm>
        </p:spPr>
        <p:txBody>
          <a:bodyPr>
            <a:normAutofit/>
          </a:bodyPr>
          <a:lstStyle/>
          <a:p>
            <a:pPr algn="ctr"/>
            <a:r>
              <a:rPr lang="es-MX" dirty="0"/>
              <a:t>Ruby</a:t>
            </a:r>
          </a:p>
        </p:txBody>
      </p:sp>
      <p:sp>
        <p:nvSpPr>
          <p:cNvPr id="3" name="Marcador de contenido 2">
            <a:extLst>
              <a:ext uri="{FF2B5EF4-FFF2-40B4-BE49-F238E27FC236}">
                <a16:creationId xmlns:a16="http://schemas.microsoft.com/office/drawing/2014/main" id="{610A039E-C083-8F52-968A-28E0B02A1158}"/>
              </a:ext>
            </a:extLst>
          </p:cNvPr>
          <p:cNvSpPr>
            <a:spLocks noGrp="1"/>
          </p:cNvSpPr>
          <p:nvPr>
            <p:ph idx="1"/>
          </p:nvPr>
        </p:nvSpPr>
        <p:spPr>
          <a:xfrm>
            <a:off x="5751576" y="455362"/>
            <a:ext cx="5322823" cy="5631113"/>
          </a:xfrm>
        </p:spPr>
        <p:txBody>
          <a:bodyPr>
            <a:normAutofit lnSpcReduction="10000"/>
          </a:bodyPr>
          <a:lstStyle/>
          <a:p>
            <a:r>
              <a:rPr lang="es-US" dirty="0"/>
              <a:t>El lenguaje de programación </a:t>
            </a:r>
            <a:r>
              <a:rPr lang="es-US" b="1" dirty="0">
                <a:solidFill>
                  <a:srgbClr val="0070C0"/>
                </a:solidFill>
              </a:rPr>
              <a:t>Ruby</a:t>
            </a:r>
            <a:r>
              <a:rPr lang="es-US" dirty="0"/>
              <a:t> se considera uno de los más simples dentro del universo de programación. También se considera reciente, fue creado por el programador japonés </a:t>
            </a:r>
            <a:r>
              <a:rPr lang="es-US" b="1" dirty="0" err="1">
                <a:solidFill>
                  <a:srgbClr val="0070C0"/>
                </a:solidFill>
              </a:rPr>
              <a:t>Yukihiro</a:t>
            </a:r>
            <a:r>
              <a:rPr lang="es-US" b="1" dirty="0">
                <a:solidFill>
                  <a:srgbClr val="0070C0"/>
                </a:solidFill>
              </a:rPr>
              <a:t> Matsumoto en 1995 </a:t>
            </a:r>
            <a:r>
              <a:rPr lang="es-US" dirty="0"/>
              <a:t>y permite un desarrollo ágil y rápido de las aplicaciones. </a:t>
            </a:r>
          </a:p>
          <a:p>
            <a:r>
              <a:rPr lang="es-US" dirty="0"/>
              <a:t>Ruby es...</a:t>
            </a:r>
          </a:p>
          <a:p>
            <a:r>
              <a:rPr lang="es-US" dirty="0"/>
              <a:t>Un lenguaje de programación dinámico y de código abierto </a:t>
            </a:r>
            <a:r>
              <a:rPr lang="es-US" b="1" dirty="0">
                <a:solidFill>
                  <a:srgbClr val="0070C0"/>
                </a:solidFill>
              </a:rPr>
              <a:t>enfocado en la simplicidad y productividad.</a:t>
            </a:r>
            <a:r>
              <a:rPr lang="es-US" dirty="0"/>
              <a:t> Su elegante sintaxis se siente natural al leerla y fácil al escribirla.</a:t>
            </a:r>
            <a:endParaRPr lang="es-MX" dirty="0"/>
          </a:p>
        </p:txBody>
      </p:sp>
      <p:pic>
        <p:nvPicPr>
          <p:cNvPr id="23554" name="Picture 2" descr="Disponible Ruby 2.6 con compilador JIT en fase experimental - MuyLinux">
            <a:extLst>
              <a:ext uri="{FF2B5EF4-FFF2-40B4-BE49-F238E27FC236}">
                <a16:creationId xmlns:a16="http://schemas.microsoft.com/office/drawing/2014/main" id="{C38154EF-294E-DD70-2B34-E256F4ADCF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78" r="16663" b="3"/>
          <a:stretch/>
        </p:blipFill>
        <p:spPr bwMode="auto">
          <a:xfrm>
            <a:off x="1591056" y="2238233"/>
            <a:ext cx="3611880" cy="3616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387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9" name="Rectangle 33798">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3801" name="Rectangle 33800">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33803" name="Rectangle 33802">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794" name="Picture 2" descr="Delphi desde cero">
            <a:extLst>
              <a:ext uri="{FF2B5EF4-FFF2-40B4-BE49-F238E27FC236}">
                <a16:creationId xmlns:a16="http://schemas.microsoft.com/office/drawing/2014/main" id="{C129ADD2-6605-DF40-683D-6F62AC40E85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2" b="8025"/>
          <a:stretch/>
        </p:blipFill>
        <p:spPr bwMode="auto">
          <a:xfrm>
            <a:off x="0" y="2480481"/>
            <a:ext cx="4711336" cy="4333164"/>
          </a:xfrm>
          <a:prstGeom prst="rect">
            <a:avLst/>
          </a:prstGeom>
          <a:noFill/>
          <a:extLst>
            <a:ext uri="{909E8E84-426E-40DD-AFC4-6F175D3DCCD1}">
              <a14:hiddenFill xmlns:a14="http://schemas.microsoft.com/office/drawing/2010/main">
                <a:solidFill>
                  <a:srgbClr val="FFFFFF"/>
                </a:solidFill>
              </a14:hiddenFill>
            </a:ext>
          </a:extLst>
        </p:spPr>
      </p:pic>
      <p:sp>
        <p:nvSpPr>
          <p:cNvPr id="33805" name="Rectangle 33804">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3807" name="Rectangle 33806">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E1454310-624F-0AAE-BB24-3E4833CB725F}"/>
              </a:ext>
            </a:extLst>
          </p:cNvPr>
          <p:cNvSpPr>
            <a:spLocks noGrp="1"/>
          </p:cNvSpPr>
          <p:nvPr>
            <p:ph type="title"/>
          </p:nvPr>
        </p:nvSpPr>
        <p:spPr>
          <a:xfrm>
            <a:off x="1569492" y="171728"/>
            <a:ext cx="5799247" cy="1032036"/>
          </a:xfrm>
        </p:spPr>
        <p:txBody>
          <a:bodyPr vert="horz" lIns="91440" tIns="45720" rIns="91440" bIns="45720" rtlCol="0" anchor="t">
            <a:normAutofit/>
          </a:bodyPr>
          <a:lstStyle/>
          <a:p>
            <a:r>
              <a:rPr lang="en-US" sz="4800" dirty="0"/>
              <a:t>Delphi</a:t>
            </a:r>
          </a:p>
        </p:txBody>
      </p:sp>
      <p:sp>
        <p:nvSpPr>
          <p:cNvPr id="5" name="CuadroTexto 4">
            <a:extLst>
              <a:ext uri="{FF2B5EF4-FFF2-40B4-BE49-F238E27FC236}">
                <a16:creationId xmlns:a16="http://schemas.microsoft.com/office/drawing/2014/main" id="{959975E8-D823-68C1-D9D3-D51D7214DAAE}"/>
              </a:ext>
            </a:extLst>
          </p:cNvPr>
          <p:cNvSpPr txBox="1"/>
          <p:nvPr/>
        </p:nvSpPr>
        <p:spPr>
          <a:xfrm>
            <a:off x="5256568" y="1582336"/>
            <a:ext cx="6387152" cy="3970318"/>
          </a:xfrm>
          <a:prstGeom prst="rect">
            <a:avLst/>
          </a:prstGeom>
          <a:noFill/>
        </p:spPr>
        <p:txBody>
          <a:bodyPr wrap="square">
            <a:spAutoFit/>
          </a:bodyPr>
          <a:lstStyle/>
          <a:p>
            <a:pPr algn="just"/>
            <a:r>
              <a:rPr lang="es-MX" dirty="0"/>
              <a:t>Es producido comercialmente por la empresa estadounidense </a:t>
            </a:r>
            <a:r>
              <a:rPr lang="es-MX" b="1" dirty="0" err="1">
                <a:solidFill>
                  <a:srgbClr val="0070C0"/>
                </a:solidFill>
              </a:rPr>
              <a:t>Aberform</a:t>
            </a:r>
            <a:r>
              <a:rPr lang="es-MX" dirty="0"/>
              <a:t>, adquirida en Mayo de 2008 por Embarcadero Technologies, una empresa del grupo Thoma </a:t>
            </a:r>
            <a:r>
              <a:rPr lang="es-MX" dirty="0" err="1"/>
              <a:t>Cressey</a:t>
            </a:r>
            <a:r>
              <a:rPr lang="es-MX" dirty="0"/>
              <a:t> Bravo, en una suma que ronda los 30 millones de dólares. En sus diferentes variantes, permite producir archivos ejecutables para Windows, Linux y la plataforma .NET.</a:t>
            </a:r>
          </a:p>
          <a:p>
            <a:pPr algn="just"/>
            <a:endParaRPr lang="es-MX" dirty="0"/>
          </a:p>
          <a:p>
            <a:pPr algn="just"/>
            <a:r>
              <a:rPr lang="es-MX" dirty="0"/>
              <a:t>Delphi es un entorno de desarrollo de software diseñado </a:t>
            </a:r>
            <a:r>
              <a:rPr lang="es-MX" b="1" dirty="0">
                <a:solidFill>
                  <a:srgbClr val="0070C0"/>
                </a:solidFill>
              </a:rPr>
              <a:t>para la programación de propósito general </a:t>
            </a:r>
            <a:r>
              <a:rPr lang="es-MX" dirty="0"/>
              <a:t>con énfasis en la programación visual. En Delphi se utiliza como lenguaje de programación una versión moderna de Pascal llamada </a:t>
            </a:r>
            <a:r>
              <a:rPr lang="es-MX" dirty="0" err="1"/>
              <a:t>Object</a:t>
            </a:r>
            <a:r>
              <a:rPr lang="es-MX" dirty="0"/>
              <a:t> Pascal.</a:t>
            </a:r>
          </a:p>
          <a:p>
            <a:pPr algn="just"/>
            <a:r>
              <a:rPr lang="es-MX" dirty="0"/>
              <a:t>Lanzamiento inicial	Delphi 1 </a:t>
            </a:r>
            <a:r>
              <a:rPr lang="es-MX" b="1" dirty="0">
                <a:solidFill>
                  <a:srgbClr val="0070C0"/>
                </a:solidFill>
              </a:rPr>
              <a:t>14 de febrero de 1995.</a:t>
            </a:r>
          </a:p>
        </p:txBody>
      </p:sp>
    </p:spTree>
    <p:extLst>
      <p:ext uri="{BB962C8B-B14F-4D97-AF65-F5344CB8AC3E}">
        <p14:creationId xmlns:p14="http://schemas.microsoft.com/office/powerpoint/2010/main" val="2244485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1" name="Rectangle 1844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40" name="Picture 8" descr="Imagina Formación Twitter પર: &quot;¿Te gustaría aprender a programar desde 0?  ➡️Con C# podrás crear aplicaciones que se ejecuten desde cualquier sistema  operativo. ☝️🏼Si ya conoces algo de C# con nuestro curso">
            <a:extLst>
              <a:ext uri="{FF2B5EF4-FFF2-40B4-BE49-F238E27FC236}">
                <a16:creationId xmlns:a16="http://schemas.microsoft.com/office/drawing/2014/main" id="{0A4819DD-8F53-A7CB-5403-3D7D4543B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441" y="1523996"/>
            <a:ext cx="63817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Anders Hejlsberg - Wikipedia, la enciclopedia libre">
            <a:extLst>
              <a:ext uri="{FF2B5EF4-FFF2-40B4-BE49-F238E27FC236}">
                <a16:creationId xmlns:a16="http://schemas.microsoft.com/office/drawing/2014/main" id="{DD4BCF5E-7BA1-C020-7B37-DFA8AEB5CB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90" r="11533"/>
          <a:stretch/>
        </p:blipFill>
        <p:spPr bwMode="auto">
          <a:xfrm>
            <a:off x="8018632" y="10"/>
            <a:ext cx="4173368" cy="6857990"/>
          </a:xfrm>
          <a:prstGeom prst="rect">
            <a:avLst/>
          </a:prstGeom>
          <a:noFill/>
          <a:extLst>
            <a:ext uri="{909E8E84-426E-40DD-AFC4-6F175D3DCCD1}">
              <a14:hiddenFill xmlns:a14="http://schemas.microsoft.com/office/drawing/2010/main">
                <a:solidFill>
                  <a:srgbClr val="FFFFFF"/>
                </a:solidFill>
              </a14:hiddenFill>
            </a:ext>
          </a:extLst>
        </p:spPr>
      </p:pic>
      <p:sp>
        <p:nvSpPr>
          <p:cNvPr id="18443" name="Rectangle 1844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5" name="Rectangle 18444">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295AFB1-69DE-55B9-E4C6-72227DBA8E7A}"/>
              </a:ext>
            </a:extLst>
          </p:cNvPr>
          <p:cNvSpPr>
            <a:spLocks noGrp="1"/>
          </p:cNvSpPr>
          <p:nvPr>
            <p:ph type="title"/>
          </p:nvPr>
        </p:nvSpPr>
        <p:spPr>
          <a:xfrm>
            <a:off x="565151" y="455363"/>
            <a:ext cx="6881728" cy="932822"/>
          </a:xfrm>
        </p:spPr>
        <p:txBody>
          <a:bodyPr>
            <a:normAutofit/>
          </a:bodyPr>
          <a:lstStyle/>
          <a:p>
            <a:pPr algn="ctr"/>
            <a:r>
              <a:rPr lang="es-MX" dirty="0"/>
              <a:t>2001 y C#</a:t>
            </a:r>
          </a:p>
        </p:txBody>
      </p:sp>
      <p:sp>
        <p:nvSpPr>
          <p:cNvPr id="3" name="Marcador de contenido 2">
            <a:extLst>
              <a:ext uri="{FF2B5EF4-FFF2-40B4-BE49-F238E27FC236}">
                <a16:creationId xmlns:a16="http://schemas.microsoft.com/office/drawing/2014/main" id="{4344FD3C-3ADE-F94E-15DC-FDEAA4913450}"/>
              </a:ext>
            </a:extLst>
          </p:cNvPr>
          <p:cNvSpPr>
            <a:spLocks noGrp="1"/>
          </p:cNvSpPr>
          <p:nvPr>
            <p:ph idx="1"/>
          </p:nvPr>
        </p:nvSpPr>
        <p:spPr>
          <a:xfrm>
            <a:off x="565151" y="1523996"/>
            <a:ext cx="6881728" cy="4503028"/>
          </a:xfrm>
        </p:spPr>
        <p:txBody>
          <a:bodyPr>
            <a:normAutofit/>
          </a:bodyPr>
          <a:lstStyle/>
          <a:p>
            <a:pPr algn="just"/>
            <a:r>
              <a:rPr lang="es-US" dirty="0">
                <a:solidFill>
                  <a:schemeClr val="tx1">
                    <a:lumMod val="65000"/>
                  </a:schemeClr>
                </a:solidFill>
              </a:rPr>
              <a:t>En abril de </a:t>
            </a:r>
            <a:r>
              <a:rPr lang="es-US" b="1" dirty="0">
                <a:solidFill>
                  <a:srgbClr val="0070C0"/>
                </a:solidFill>
              </a:rPr>
              <a:t>1999</a:t>
            </a:r>
            <a:r>
              <a:rPr lang="es-US" dirty="0">
                <a:solidFill>
                  <a:schemeClr val="tx1">
                    <a:lumMod val="65000"/>
                  </a:schemeClr>
                </a:solidFill>
              </a:rPr>
              <a:t>, </a:t>
            </a:r>
            <a:r>
              <a:rPr lang="es-US" b="1" dirty="0" err="1">
                <a:solidFill>
                  <a:srgbClr val="0070C0"/>
                </a:solidFill>
              </a:rPr>
              <a:t>Anders</a:t>
            </a:r>
            <a:r>
              <a:rPr lang="es-US" b="1" dirty="0">
                <a:solidFill>
                  <a:srgbClr val="0070C0"/>
                </a:solidFill>
              </a:rPr>
              <a:t> </a:t>
            </a:r>
            <a:r>
              <a:rPr lang="es-US" b="1" dirty="0" err="1">
                <a:solidFill>
                  <a:srgbClr val="0070C0"/>
                </a:solidFill>
              </a:rPr>
              <a:t>Hejlsberg</a:t>
            </a:r>
            <a:r>
              <a:rPr lang="es-US" b="1" dirty="0">
                <a:solidFill>
                  <a:srgbClr val="0070C0"/>
                </a:solidFill>
              </a:rPr>
              <a:t> </a:t>
            </a:r>
            <a:r>
              <a:rPr lang="es-US" dirty="0">
                <a:solidFill>
                  <a:schemeClr val="tx1">
                    <a:lumMod val="65000"/>
                  </a:schemeClr>
                </a:solidFill>
              </a:rPr>
              <a:t>formó un equipo con la misión de desarrollar un nuevo lenguaje orientado a objetos. Este nombre tuvo que ser cambiado debido a problemas de marca, pasando a llamarse C#.</a:t>
            </a:r>
          </a:p>
          <a:p>
            <a:pPr algn="just"/>
            <a:r>
              <a:rPr lang="es-US" dirty="0">
                <a:solidFill>
                  <a:schemeClr val="tx1">
                    <a:lumMod val="65000"/>
                  </a:schemeClr>
                </a:solidFill>
              </a:rPr>
              <a:t>C# (pronunciado "si </a:t>
            </a:r>
            <a:r>
              <a:rPr lang="es-US" dirty="0" err="1">
                <a:solidFill>
                  <a:schemeClr val="tx1">
                    <a:lumMod val="65000"/>
                  </a:schemeClr>
                </a:solidFill>
              </a:rPr>
              <a:t>sharp</a:t>
            </a:r>
            <a:r>
              <a:rPr lang="es-US" dirty="0">
                <a:solidFill>
                  <a:schemeClr val="tx1">
                    <a:lumMod val="65000"/>
                  </a:schemeClr>
                </a:solidFill>
              </a:rPr>
              <a:t>" en inglés) es un lenguaje de programación moderno, basado en objetos y con seguridad de tipos. C# permite a los desarrolladores </a:t>
            </a:r>
            <a:r>
              <a:rPr lang="es-US" b="1" dirty="0">
                <a:solidFill>
                  <a:srgbClr val="0070C0"/>
                </a:solidFill>
              </a:rPr>
              <a:t>crear muchos tipos de aplicaciones</a:t>
            </a:r>
            <a:r>
              <a:rPr lang="es-US" dirty="0">
                <a:solidFill>
                  <a:schemeClr val="tx1">
                    <a:lumMod val="65000"/>
                  </a:schemeClr>
                </a:solidFill>
              </a:rPr>
              <a:t> seguras y sólidas que se ejecutan en . NET.</a:t>
            </a:r>
            <a:endParaRPr lang="es-MX" dirty="0">
              <a:solidFill>
                <a:schemeClr val="tx1">
                  <a:lumMod val="65000"/>
                </a:schemeClr>
              </a:solidFill>
            </a:endParaRPr>
          </a:p>
        </p:txBody>
      </p:sp>
    </p:spTree>
    <p:extLst>
      <p:ext uri="{BB962C8B-B14F-4D97-AF65-F5344CB8AC3E}">
        <p14:creationId xmlns:p14="http://schemas.microsoft.com/office/powerpoint/2010/main" val="269917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5" name="Rectangle 32774">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2777" name="Rectangle 32776">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32779" name="Rectangle 3277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1" name="Rectangle 32780">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2783" name="Rectangle 32782">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DE65214C-458B-949C-77D9-6C96D50202E6}"/>
              </a:ext>
            </a:extLst>
          </p:cNvPr>
          <p:cNvSpPr>
            <a:spLocks noGrp="1"/>
          </p:cNvSpPr>
          <p:nvPr>
            <p:ph type="title"/>
          </p:nvPr>
        </p:nvSpPr>
        <p:spPr>
          <a:xfrm>
            <a:off x="3952310" y="194052"/>
            <a:ext cx="5657899" cy="1181440"/>
          </a:xfrm>
        </p:spPr>
        <p:txBody>
          <a:bodyPr vert="horz" lIns="91440" tIns="45720" rIns="91440" bIns="45720" rtlCol="0" anchor="t">
            <a:normAutofit fontScale="90000"/>
          </a:bodyPr>
          <a:lstStyle/>
          <a:p>
            <a:r>
              <a:rPr lang="en-US" sz="6000" dirty="0"/>
              <a:t>Y Scala </a:t>
            </a:r>
            <a:r>
              <a:rPr lang="en-US" sz="6000" dirty="0" err="1"/>
              <a:t>en</a:t>
            </a:r>
            <a:r>
              <a:rPr lang="en-US" sz="6000" dirty="0"/>
              <a:t> 2003</a:t>
            </a:r>
          </a:p>
        </p:txBody>
      </p:sp>
      <p:pic>
        <p:nvPicPr>
          <p:cNvPr id="32770" name="Picture 2" descr="Resultado de imagen para scala lenguaje de programacion">
            <a:extLst>
              <a:ext uri="{FF2B5EF4-FFF2-40B4-BE49-F238E27FC236}">
                <a16:creationId xmlns:a16="http://schemas.microsoft.com/office/drawing/2014/main" id="{9D861319-A21A-3458-BA78-7E5CE6414C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rot="16200000">
            <a:off x="-388005" y="3344770"/>
            <a:ext cx="3376327" cy="1543947"/>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4CCBD848-EA2E-45BB-BCBD-27AEE70C5F35}"/>
              </a:ext>
            </a:extLst>
          </p:cNvPr>
          <p:cNvSpPr txBox="1"/>
          <p:nvPr/>
        </p:nvSpPr>
        <p:spPr>
          <a:xfrm>
            <a:off x="3952310" y="1905502"/>
            <a:ext cx="6853737" cy="3046988"/>
          </a:xfrm>
          <a:prstGeom prst="rect">
            <a:avLst/>
          </a:prstGeom>
          <a:noFill/>
        </p:spPr>
        <p:txBody>
          <a:bodyPr wrap="square">
            <a:spAutoFit/>
          </a:bodyPr>
          <a:lstStyle/>
          <a:p>
            <a:pPr algn="just"/>
            <a:r>
              <a:rPr lang="es-MX" sz="2400" dirty="0"/>
              <a:t>Apareció en </a:t>
            </a:r>
            <a:r>
              <a:rPr lang="es-MX" sz="2400" b="1" dirty="0">
                <a:solidFill>
                  <a:srgbClr val="0070C0"/>
                </a:solidFill>
              </a:rPr>
              <a:t>2003</a:t>
            </a:r>
            <a:r>
              <a:rPr lang="es-MX" sz="2400" dirty="0"/>
              <a:t>, Scala es un lenguaje de programación </a:t>
            </a:r>
            <a:r>
              <a:rPr lang="es-MX" sz="2400" dirty="0" err="1"/>
              <a:t>multi-paradigma</a:t>
            </a:r>
            <a:r>
              <a:rPr lang="es-MX" sz="2400" dirty="0"/>
              <a:t> diseñado </a:t>
            </a:r>
            <a:r>
              <a:rPr lang="es-MX" sz="2400" b="1" dirty="0">
                <a:solidFill>
                  <a:srgbClr val="0070C0"/>
                </a:solidFill>
              </a:rPr>
              <a:t>para expresar patrones comunes de programación </a:t>
            </a:r>
            <a:r>
              <a:rPr lang="es-MX" sz="2400" dirty="0"/>
              <a:t>en forma concisa, elegante y con tipos seguros. Integra sutilmente características de lenguajes funcionales y orientados a objetos. Diseñador por </a:t>
            </a:r>
            <a:r>
              <a:rPr lang="es-MX" sz="2400" b="1" dirty="0">
                <a:solidFill>
                  <a:srgbClr val="0070C0"/>
                </a:solidFill>
              </a:rPr>
              <a:t>Martin </a:t>
            </a:r>
            <a:r>
              <a:rPr lang="es-MX" sz="2400" b="1" dirty="0" err="1">
                <a:solidFill>
                  <a:srgbClr val="0070C0"/>
                </a:solidFill>
              </a:rPr>
              <a:t>Odersky</a:t>
            </a:r>
            <a:r>
              <a:rPr lang="es-MX" sz="2400" b="1" dirty="0">
                <a:solidFill>
                  <a:srgbClr val="0070C0"/>
                </a:solidFill>
              </a:rPr>
              <a:t>.</a:t>
            </a:r>
          </a:p>
        </p:txBody>
      </p:sp>
    </p:spTree>
    <p:extLst>
      <p:ext uri="{BB962C8B-B14F-4D97-AF65-F5344CB8AC3E}">
        <p14:creationId xmlns:p14="http://schemas.microsoft.com/office/powerpoint/2010/main" val="3987363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5" name="Rectangle 19464">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7" name="Rectangle 19466">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8BEBFA5-AB5D-7A94-8F66-C779993689F7}"/>
              </a:ext>
            </a:extLst>
          </p:cNvPr>
          <p:cNvSpPr>
            <a:spLocks noGrp="1"/>
          </p:cNvSpPr>
          <p:nvPr>
            <p:ph type="title"/>
          </p:nvPr>
        </p:nvSpPr>
        <p:spPr>
          <a:xfrm>
            <a:off x="-386347" y="790383"/>
            <a:ext cx="5310579" cy="932822"/>
          </a:xfrm>
        </p:spPr>
        <p:txBody>
          <a:bodyPr>
            <a:normAutofit/>
          </a:bodyPr>
          <a:lstStyle/>
          <a:p>
            <a:pPr algn="ctr"/>
            <a:r>
              <a:rPr lang="es-US" dirty="0"/>
              <a:t>Scratch en 2006</a:t>
            </a:r>
            <a:endParaRPr lang="es-MX" dirty="0"/>
          </a:p>
        </p:txBody>
      </p:sp>
      <p:sp>
        <p:nvSpPr>
          <p:cNvPr id="3" name="Marcador de contenido 2">
            <a:extLst>
              <a:ext uri="{FF2B5EF4-FFF2-40B4-BE49-F238E27FC236}">
                <a16:creationId xmlns:a16="http://schemas.microsoft.com/office/drawing/2014/main" id="{906CF469-2D54-3021-2027-0065BF40638D}"/>
              </a:ext>
            </a:extLst>
          </p:cNvPr>
          <p:cNvSpPr>
            <a:spLocks noGrp="1"/>
          </p:cNvSpPr>
          <p:nvPr>
            <p:ph idx="1"/>
          </p:nvPr>
        </p:nvSpPr>
        <p:spPr>
          <a:xfrm>
            <a:off x="5811646" y="1549272"/>
            <a:ext cx="5310579" cy="3926152"/>
          </a:xfrm>
        </p:spPr>
        <p:txBody>
          <a:bodyPr>
            <a:normAutofit fontScale="92500" lnSpcReduction="20000"/>
          </a:bodyPr>
          <a:lstStyle/>
          <a:p>
            <a:pPr algn="just"/>
            <a:r>
              <a:rPr lang="es-US" dirty="0"/>
              <a:t>Seguimos con la historia de los lenguajes de programación hablando de Scratch, la ''revolución'' de los lenguajes de programación. </a:t>
            </a:r>
          </a:p>
          <a:p>
            <a:pPr algn="just"/>
            <a:endParaRPr lang="es-US" dirty="0"/>
          </a:p>
          <a:p>
            <a:pPr algn="just"/>
            <a:r>
              <a:rPr lang="es-US" dirty="0"/>
              <a:t>Se trata de un lenguaje de programación visual desarrollado por el MIT que consiste en un lenguaje desarrollado para que niños, adolescentes y adultos puedan aprender a programar de manera visual sin tener demasiada idea de código.</a:t>
            </a:r>
            <a:endParaRPr lang="es-MX" dirty="0"/>
          </a:p>
        </p:txBody>
      </p:sp>
      <p:pic>
        <p:nvPicPr>
          <p:cNvPr id="19458" name="Picture 2" descr="Mitchel Resnick - Wikipedia, la enciclopedia libre">
            <a:extLst>
              <a:ext uri="{FF2B5EF4-FFF2-40B4-BE49-F238E27FC236}">
                <a16:creationId xmlns:a16="http://schemas.microsoft.com/office/drawing/2014/main" id="{A860EDA5-47D3-777A-D0EA-29691C63F4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 y="2005781"/>
            <a:ext cx="4537889" cy="301313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A6A89F68-477E-2E6E-F7D9-D1913E95E940}"/>
              </a:ext>
            </a:extLst>
          </p:cNvPr>
          <p:cNvSpPr txBox="1"/>
          <p:nvPr/>
        </p:nvSpPr>
        <p:spPr>
          <a:xfrm>
            <a:off x="112594" y="5325602"/>
            <a:ext cx="4131860" cy="1200329"/>
          </a:xfrm>
          <a:prstGeom prst="rect">
            <a:avLst/>
          </a:prstGeom>
          <a:noFill/>
        </p:spPr>
        <p:txBody>
          <a:bodyPr wrap="square">
            <a:spAutoFit/>
          </a:bodyPr>
          <a:lstStyle/>
          <a:p>
            <a:pPr algn="just"/>
            <a:r>
              <a:rPr lang="es-MX" b="1" dirty="0">
                <a:solidFill>
                  <a:srgbClr val="0070C0"/>
                </a:solidFill>
              </a:rPr>
              <a:t>Mitchel Resnick</a:t>
            </a:r>
            <a:r>
              <a:rPr lang="es-MX" dirty="0"/>
              <a:t>: creador de </a:t>
            </a:r>
            <a:r>
              <a:rPr lang="es-MX" b="1" dirty="0">
                <a:solidFill>
                  <a:srgbClr val="0070C0"/>
                </a:solidFill>
              </a:rPr>
              <a:t>Scratch</a:t>
            </a:r>
            <a:r>
              <a:rPr lang="es-MX" dirty="0"/>
              <a:t>, el profesor es un experto en ayudar a la creatividad de los estudiantes a florecer.</a:t>
            </a:r>
          </a:p>
        </p:txBody>
      </p:sp>
    </p:spTree>
    <p:extLst>
      <p:ext uri="{BB962C8B-B14F-4D97-AF65-F5344CB8AC3E}">
        <p14:creationId xmlns:p14="http://schemas.microsoft.com/office/powerpoint/2010/main" val="1549991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1" name="Rectangle 28680">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3" name="Rectangle 28682">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CB7F3AD-9715-F896-A9F1-A3EEB1B32C61}"/>
              </a:ext>
            </a:extLst>
          </p:cNvPr>
          <p:cNvSpPr>
            <a:spLocks noGrp="1"/>
          </p:cNvSpPr>
          <p:nvPr>
            <p:ph type="title"/>
          </p:nvPr>
        </p:nvSpPr>
        <p:spPr>
          <a:xfrm>
            <a:off x="1587710" y="455362"/>
            <a:ext cx="9486690" cy="933701"/>
          </a:xfrm>
        </p:spPr>
        <p:txBody>
          <a:bodyPr>
            <a:normAutofit/>
          </a:bodyPr>
          <a:lstStyle/>
          <a:p>
            <a:r>
              <a:rPr lang="es-MX" dirty="0"/>
              <a:t>RUST en 2006</a:t>
            </a:r>
          </a:p>
        </p:txBody>
      </p:sp>
      <p:sp>
        <p:nvSpPr>
          <p:cNvPr id="3" name="Marcador de contenido 2">
            <a:extLst>
              <a:ext uri="{FF2B5EF4-FFF2-40B4-BE49-F238E27FC236}">
                <a16:creationId xmlns:a16="http://schemas.microsoft.com/office/drawing/2014/main" id="{96407A15-560E-5B54-418A-1639C1EED1F8}"/>
              </a:ext>
            </a:extLst>
          </p:cNvPr>
          <p:cNvSpPr>
            <a:spLocks noGrp="1"/>
          </p:cNvSpPr>
          <p:nvPr>
            <p:ph idx="1"/>
          </p:nvPr>
        </p:nvSpPr>
        <p:spPr>
          <a:xfrm>
            <a:off x="1587499" y="1389064"/>
            <a:ext cx="5783939" cy="4697412"/>
          </a:xfrm>
        </p:spPr>
        <p:txBody>
          <a:bodyPr>
            <a:normAutofit/>
          </a:bodyPr>
          <a:lstStyle/>
          <a:p>
            <a:endParaRPr lang="es-US" dirty="0"/>
          </a:p>
          <a:p>
            <a:pPr algn="just"/>
            <a:r>
              <a:rPr lang="es-US" dirty="0" err="1"/>
              <a:t>Rust</a:t>
            </a:r>
            <a:r>
              <a:rPr lang="es-US" dirty="0"/>
              <a:t> nace gracias a </a:t>
            </a:r>
            <a:r>
              <a:rPr lang="es-US" b="1" dirty="0">
                <a:solidFill>
                  <a:srgbClr val="0070C0"/>
                </a:solidFill>
              </a:rPr>
              <a:t>Mozilla Firefox </a:t>
            </a:r>
            <a:r>
              <a:rPr lang="es-US" dirty="0"/>
              <a:t>en el año </a:t>
            </a:r>
            <a:r>
              <a:rPr lang="es-US" b="1" dirty="0">
                <a:solidFill>
                  <a:srgbClr val="0070C0"/>
                </a:solidFill>
              </a:rPr>
              <a:t>2006</a:t>
            </a:r>
            <a:r>
              <a:rPr lang="es-US" dirty="0"/>
              <a:t>, de la mano de </a:t>
            </a:r>
            <a:r>
              <a:rPr lang="es-US" b="1" dirty="0" err="1">
                <a:solidFill>
                  <a:srgbClr val="0070C0"/>
                </a:solidFill>
              </a:rPr>
              <a:t>Graydon</a:t>
            </a:r>
            <a:r>
              <a:rPr lang="es-US" b="1" dirty="0">
                <a:solidFill>
                  <a:srgbClr val="0070C0"/>
                </a:solidFill>
              </a:rPr>
              <a:t> Hoare</a:t>
            </a:r>
            <a:r>
              <a:rPr lang="es-US" dirty="0"/>
              <a:t>, quien </a:t>
            </a:r>
            <a:r>
              <a:rPr lang="es-US" b="1" dirty="0">
                <a:solidFill>
                  <a:srgbClr val="0070C0"/>
                </a:solidFill>
              </a:rPr>
              <a:t>buscaba un lenguaje que permitiese escribir un código tan rápido como C o C++</a:t>
            </a:r>
            <a:r>
              <a:rPr lang="es-US" dirty="0"/>
              <a:t>, eliminando los inconvenientes con el recolector de basura (</a:t>
            </a:r>
            <a:r>
              <a:rPr lang="es-US" dirty="0" err="1"/>
              <a:t>garbage</a:t>
            </a:r>
            <a:r>
              <a:rPr lang="es-US" dirty="0"/>
              <a:t> </a:t>
            </a:r>
            <a:r>
              <a:rPr lang="es-US" dirty="0" err="1"/>
              <a:t>recollector</a:t>
            </a:r>
            <a:r>
              <a:rPr lang="es-US" dirty="0"/>
              <a:t>) con el fin de evitar los problemas derivados de la gestión de memoria.</a:t>
            </a:r>
            <a:endParaRPr lang="es-MX" dirty="0"/>
          </a:p>
        </p:txBody>
      </p:sp>
      <p:pic>
        <p:nvPicPr>
          <p:cNvPr id="28674" name="Picture 2">
            <a:extLst>
              <a:ext uri="{FF2B5EF4-FFF2-40B4-BE49-F238E27FC236}">
                <a16:creationId xmlns:a16="http://schemas.microsoft.com/office/drawing/2014/main" id="{FA556DD2-689C-02DA-533A-ECEC654B4C2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14961" y="3373849"/>
            <a:ext cx="3611880" cy="1345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071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7" name="Rectangle 20486">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0489" name="Rectangle 20488">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20491" name="Rectangle 20490">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121859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82" name="Picture 2" descr="El lenguaje de programación Go de Google es el que quieren aprender los  desarrolladores en 2019">
            <a:extLst>
              <a:ext uri="{FF2B5EF4-FFF2-40B4-BE49-F238E27FC236}">
                <a16:creationId xmlns:a16="http://schemas.microsoft.com/office/drawing/2014/main" id="{91C2F4E5-2E40-1098-27B5-D1A508355B9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333"/>
          <a:stretch/>
        </p:blipFill>
        <p:spPr bwMode="auto">
          <a:xfrm>
            <a:off x="6115"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0493" name="Rectangle">
            <a:extLst>
              <a:ext uri="{FF2B5EF4-FFF2-40B4-BE49-F238E27FC236}">
                <a16:creationId xmlns:a16="http://schemas.microsoft.com/office/drawing/2014/main" id="{44037D61-FFBD-0342-90C5-D1AD7C899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02096"/>
            <a:ext cx="9421303" cy="2755904"/>
          </a:xfrm>
          <a:prstGeom prst="rect">
            <a:avLst/>
          </a:prstGeom>
          <a:solidFill>
            <a:schemeClr val="bg1">
              <a:alpha val="85000"/>
            </a:schemeClr>
          </a:solidFill>
          <a:ln w="12700">
            <a:miter lim="400000"/>
          </a:ln>
        </p:spPr>
        <p:txBody>
          <a:bodyPr lIns="50800" tIns="50800" rIns="50800" bIns="50800" anchor="ctr"/>
          <a:lstStyle/>
          <a:p>
            <a:pPr algn="ctr" defTabSz="457200"/>
            <a:endParaRPr sz="2600" cap="all" dirty="0">
              <a:solidFill>
                <a:srgbClr val="FFFFFF"/>
              </a:solidFill>
              <a:sym typeface="Avenir Next"/>
            </a:endParaRPr>
          </a:p>
        </p:txBody>
      </p:sp>
      <p:sp>
        <p:nvSpPr>
          <p:cNvPr id="20495" name="Rectangle 20494">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1302"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0497" name="Rectangle 20496">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8433"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574A2F97-9588-7480-4280-1D136C37708A}"/>
              </a:ext>
            </a:extLst>
          </p:cNvPr>
          <p:cNvSpPr>
            <a:spLocks noGrp="1"/>
          </p:cNvSpPr>
          <p:nvPr>
            <p:ph type="title"/>
          </p:nvPr>
        </p:nvSpPr>
        <p:spPr>
          <a:xfrm>
            <a:off x="891239" y="179913"/>
            <a:ext cx="8393008" cy="1015663"/>
          </a:xfrm>
        </p:spPr>
        <p:txBody>
          <a:bodyPr vert="horz" lIns="91440" tIns="45720" rIns="91440" bIns="45720" rtlCol="0" anchor="b">
            <a:normAutofit/>
          </a:bodyPr>
          <a:lstStyle/>
          <a:p>
            <a:r>
              <a:rPr lang="en-US" sz="5400" dirty="0">
                <a:solidFill>
                  <a:srgbClr val="00B0F0"/>
                </a:solidFill>
              </a:rPr>
              <a:t>GO de Google</a:t>
            </a:r>
          </a:p>
        </p:txBody>
      </p:sp>
      <p:sp>
        <p:nvSpPr>
          <p:cNvPr id="5" name="CuadroTexto 4">
            <a:extLst>
              <a:ext uri="{FF2B5EF4-FFF2-40B4-BE49-F238E27FC236}">
                <a16:creationId xmlns:a16="http://schemas.microsoft.com/office/drawing/2014/main" id="{6D2AA488-FEED-6B9D-597F-FD744F4E3E60}"/>
              </a:ext>
            </a:extLst>
          </p:cNvPr>
          <p:cNvSpPr txBox="1"/>
          <p:nvPr/>
        </p:nvSpPr>
        <p:spPr>
          <a:xfrm>
            <a:off x="313224" y="4325886"/>
            <a:ext cx="8971023" cy="2585323"/>
          </a:xfrm>
          <a:prstGeom prst="rect">
            <a:avLst/>
          </a:prstGeom>
          <a:noFill/>
        </p:spPr>
        <p:txBody>
          <a:bodyPr wrap="square">
            <a:spAutoFit/>
          </a:bodyPr>
          <a:lstStyle/>
          <a:p>
            <a:pPr algn="just"/>
            <a:r>
              <a:rPr lang="es-MX" b="1" dirty="0">
                <a:solidFill>
                  <a:srgbClr val="0070C0"/>
                </a:solidFill>
              </a:rPr>
              <a:t>2009, </a:t>
            </a:r>
            <a:r>
              <a:rPr lang="es-MX" b="1" dirty="0" err="1">
                <a:solidFill>
                  <a:srgbClr val="0070C0"/>
                </a:solidFill>
              </a:rPr>
              <a:t>Go</a:t>
            </a:r>
            <a:r>
              <a:rPr lang="es-MX" b="1" dirty="0">
                <a:solidFill>
                  <a:srgbClr val="0070C0"/>
                </a:solidFill>
              </a:rPr>
              <a:t>, de Google</a:t>
            </a:r>
          </a:p>
          <a:p>
            <a:pPr algn="just"/>
            <a:r>
              <a:rPr lang="es-MX" dirty="0" err="1"/>
              <a:t>Go</a:t>
            </a:r>
            <a:r>
              <a:rPr lang="es-MX" dirty="0"/>
              <a:t> también es conocido como </a:t>
            </a:r>
            <a:r>
              <a:rPr lang="es-MX" dirty="0" err="1"/>
              <a:t>Goland</a:t>
            </a:r>
            <a:r>
              <a:rPr lang="es-MX" dirty="0"/>
              <a:t> y es un, nada más y nada menos que, un lenguaje de programación diseñado por Google. </a:t>
            </a:r>
            <a:r>
              <a:rPr lang="es-MX" b="1" dirty="0">
                <a:solidFill>
                  <a:srgbClr val="0070C0"/>
                </a:solidFill>
              </a:rPr>
              <a:t>Está inspirado en C</a:t>
            </a:r>
            <a:r>
              <a:rPr lang="es-MX" dirty="0"/>
              <a:t>, pero es un lenguaje bastante más complicado.</a:t>
            </a:r>
          </a:p>
          <a:p>
            <a:pPr algn="just"/>
            <a:endParaRPr lang="es-MX" dirty="0"/>
          </a:p>
          <a:p>
            <a:pPr algn="just"/>
            <a:r>
              <a:rPr lang="es-MX" dirty="0"/>
              <a:t>Está enfocado a procesos muy concretos, pero el </a:t>
            </a:r>
            <a:r>
              <a:rPr lang="es-MX" b="1" dirty="0">
                <a:solidFill>
                  <a:srgbClr val="0070C0"/>
                </a:solidFill>
              </a:rPr>
              <a:t>objetivo principal es la seguridad</a:t>
            </a:r>
            <a:r>
              <a:rPr lang="es-MX" dirty="0"/>
              <a:t>. Por eso, </a:t>
            </a:r>
            <a:r>
              <a:rPr lang="es-MX" dirty="0" err="1"/>
              <a:t>Go</a:t>
            </a:r>
            <a:r>
              <a:rPr lang="es-MX" dirty="0"/>
              <a:t> no tiene aritmética de punteros. Gracias a la fuerza de Google se ha convertido en uno de los lenguajes de programación más demandados.</a:t>
            </a:r>
          </a:p>
        </p:txBody>
      </p:sp>
      <p:sp>
        <p:nvSpPr>
          <p:cNvPr id="7" name="CuadroTexto 6">
            <a:extLst>
              <a:ext uri="{FF2B5EF4-FFF2-40B4-BE49-F238E27FC236}">
                <a16:creationId xmlns:a16="http://schemas.microsoft.com/office/drawing/2014/main" id="{F7866FBE-CEB1-E36E-4E8B-1ABFD33C5007}"/>
              </a:ext>
            </a:extLst>
          </p:cNvPr>
          <p:cNvSpPr txBox="1"/>
          <p:nvPr/>
        </p:nvSpPr>
        <p:spPr>
          <a:xfrm>
            <a:off x="536577" y="1322283"/>
            <a:ext cx="5559423" cy="923330"/>
          </a:xfrm>
          <a:prstGeom prst="rect">
            <a:avLst/>
          </a:prstGeom>
          <a:noFill/>
        </p:spPr>
        <p:txBody>
          <a:bodyPr wrap="square">
            <a:spAutoFit/>
          </a:bodyPr>
          <a:lstStyle/>
          <a:p>
            <a:pPr algn="just"/>
            <a:r>
              <a:rPr lang="es-MX" dirty="0">
                <a:solidFill>
                  <a:srgbClr val="00B0F0"/>
                </a:solidFill>
              </a:rPr>
              <a:t>Ha sido desarrollado por Google9​ y sus diseñadores iniciales fueron Robert </a:t>
            </a:r>
            <a:r>
              <a:rPr lang="es-MX" dirty="0" err="1">
                <a:solidFill>
                  <a:srgbClr val="00B0F0"/>
                </a:solidFill>
              </a:rPr>
              <a:t>Griesemer</a:t>
            </a:r>
            <a:r>
              <a:rPr lang="es-MX" dirty="0">
                <a:solidFill>
                  <a:srgbClr val="00B0F0"/>
                </a:solidFill>
              </a:rPr>
              <a:t>, Rob Pike y Ken Thompson.</a:t>
            </a:r>
          </a:p>
        </p:txBody>
      </p:sp>
    </p:spTree>
    <p:extLst>
      <p:ext uri="{BB962C8B-B14F-4D97-AF65-F5344CB8AC3E}">
        <p14:creationId xmlns:p14="http://schemas.microsoft.com/office/powerpoint/2010/main" val="2938565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51" name="Rectangle 31750">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1753" name="Rectangle 31752">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31755" name="Rectangle 31754">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7" name="Rectangle 31756">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1759" name="Rectangle 31758">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DCCA993B-EEC0-DDC2-B781-6F58551A895D}"/>
              </a:ext>
            </a:extLst>
          </p:cNvPr>
          <p:cNvSpPr>
            <a:spLocks noGrp="1"/>
          </p:cNvSpPr>
          <p:nvPr>
            <p:ph type="title"/>
          </p:nvPr>
        </p:nvSpPr>
        <p:spPr>
          <a:xfrm>
            <a:off x="3529788" y="646638"/>
            <a:ext cx="5105810" cy="1004741"/>
          </a:xfrm>
        </p:spPr>
        <p:txBody>
          <a:bodyPr vert="horz" lIns="91440" tIns="45720" rIns="91440" bIns="45720" rtlCol="0" anchor="t">
            <a:normAutofit fontScale="90000"/>
          </a:bodyPr>
          <a:lstStyle/>
          <a:p>
            <a:r>
              <a:rPr lang="en-US" sz="6000" dirty="0"/>
              <a:t>Elixir</a:t>
            </a:r>
          </a:p>
        </p:txBody>
      </p:sp>
      <p:pic>
        <p:nvPicPr>
          <p:cNvPr id="31746" name="Picture 2">
            <a:extLst>
              <a:ext uri="{FF2B5EF4-FFF2-40B4-BE49-F238E27FC236}">
                <a16:creationId xmlns:a16="http://schemas.microsoft.com/office/drawing/2014/main" id="{E67CF2D0-DA75-69D4-E6E8-C51587E0A6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rot="5400000">
            <a:off x="-821006" y="2801264"/>
            <a:ext cx="3015578" cy="125546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8EA1E4FE-0F9D-3AD0-EC13-0256B8FF7389}"/>
              </a:ext>
            </a:extLst>
          </p:cNvPr>
          <p:cNvSpPr txBox="1"/>
          <p:nvPr/>
        </p:nvSpPr>
        <p:spPr>
          <a:xfrm>
            <a:off x="3529788" y="1798557"/>
            <a:ext cx="6093724" cy="2862322"/>
          </a:xfrm>
          <a:prstGeom prst="rect">
            <a:avLst/>
          </a:prstGeom>
          <a:noFill/>
        </p:spPr>
        <p:txBody>
          <a:bodyPr wrap="square">
            <a:spAutoFit/>
          </a:bodyPr>
          <a:lstStyle/>
          <a:p>
            <a:pPr algn="just"/>
            <a:r>
              <a:rPr lang="es-MX" b="1" dirty="0">
                <a:solidFill>
                  <a:srgbClr val="0070C0"/>
                </a:solidFill>
              </a:rPr>
              <a:t>Elixir</a:t>
            </a:r>
            <a:r>
              <a:rPr lang="es-MX" dirty="0"/>
              <a:t> es un lenguaje de programación funcional brasileño ejecutado en la máquina virtual </a:t>
            </a:r>
            <a:r>
              <a:rPr lang="es-MX" dirty="0" err="1"/>
              <a:t>Erlang</a:t>
            </a:r>
            <a:r>
              <a:rPr lang="es-MX" dirty="0"/>
              <a:t>. </a:t>
            </a:r>
          </a:p>
          <a:p>
            <a:pPr algn="just"/>
            <a:endParaRPr lang="es-MX" dirty="0"/>
          </a:p>
          <a:p>
            <a:pPr algn="just"/>
            <a:r>
              <a:rPr lang="es-MX" dirty="0"/>
              <a:t>Para quien aún no conoce, </a:t>
            </a:r>
            <a:r>
              <a:rPr lang="es-MX" dirty="0" err="1"/>
              <a:t>Erlang</a:t>
            </a:r>
            <a:r>
              <a:rPr lang="es-MX" dirty="0"/>
              <a:t> fue desarrollado por la reconocida empresa líder de tecnología, Ericsson, quien se hizo bastante famosa por los modernos celulares de los años 2000.</a:t>
            </a:r>
          </a:p>
          <a:p>
            <a:pPr algn="just"/>
            <a:endParaRPr lang="es-MX" dirty="0"/>
          </a:p>
          <a:p>
            <a:pPr algn="just"/>
            <a:r>
              <a:rPr lang="es-MX" dirty="0"/>
              <a:t>Apareció en	</a:t>
            </a:r>
            <a:r>
              <a:rPr lang="es-MX" b="1" dirty="0">
                <a:solidFill>
                  <a:srgbClr val="0070C0"/>
                </a:solidFill>
              </a:rPr>
              <a:t>9 de enero de 2011 </a:t>
            </a:r>
            <a:r>
              <a:rPr lang="es-MX" dirty="0"/>
              <a:t>y fue diseñado por	</a:t>
            </a:r>
            <a:r>
              <a:rPr lang="es-MX" b="1" dirty="0">
                <a:solidFill>
                  <a:srgbClr val="0070C0"/>
                </a:solidFill>
              </a:rPr>
              <a:t>José </a:t>
            </a:r>
            <a:r>
              <a:rPr lang="es-MX" b="1" dirty="0" err="1">
                <a:solidFill>
                  <a:srgbClr val="0070C0"/>
                </a:solidFill>
              </a:rPr>
              <a:t>Valim</a:t>
            </a:r>
            <a:r>
              <a:rPr lang="es-MX" b="1" dirty="0">
                <a:solidFill>
                  <a:srgbClr val="0070C0"/>
                </a:solidFill>
              </a:rPr>
              <a:t>.</a:t>
            </a:r>
          </a:p>
        </p:txBody>
      </p:sp>
      <p:sp>
        <p:nvSpPr>
          <p:cNvPr id="7" name="CuadroTexto 6">
            <a:extLst>
              <a:ext uri="{FF2B5EF4-FFF2-40B4-BE49-F238E27FC236}">
                <a16:creationId xmlns:a16="http://schemas.microsoft.com/office/drawing/2014/main" id="{01A728A3-CAD6-4265-5E8E-D1B774A7ECD2}"/>
              </a:ext>
            </a:extLst>
          </p:cNvPr>
          <p:cNvSpPr txBox="1"/>
          <p:nvPr/>
        </p:nvSpPr>
        <p:spPr>
          <a:xfrm>
            <a:off x="3529788" y="4936785"/>
            <a:ext cx="6093724" cy="923330"/>
          </a:xfrm>
          <a:prstGeom prst="rect">
            <a:avLst/>
          </a:prstGeom>
          <a:noFill/>
        </p:spPr>
        <p:txBody>
          <a:bodyPr wrap="square">
            <a:spAutoFit/>
          </a:bodyPr>
          <a:lstStyle/>
          <a:p>
            <a:r>
              <a:rPr lang="es-MX" dirty="0"/>
              <a:t>Elixir también </a:t>
            </a:r>
            <a:r>
              <a:rPr lang="es-MX" b="1" dirty="0">
                <a:solidFill>
                  <a:srgbClr val="0070C0"/>
                </a:solidFill>
              </a:rPr>
              <a:t>es usado para </a:t>
            </a:r>
            <a:r>
              <a:rPr lang="es-MX" dirty="0"/>
              <a:t>el desarrollo web, por empresas como </a:t>
            </a:r>
            <a:r>
              <a:rPr lang="es-MX" dirty="0" err="1"/>
              <a:t>Bleacher</a:t>
            </a:r>
            <a:r>
              <a:rPr lang="es-MX" dirty="0"/>
              <a:t> </a:t>
            </a:r>
            <a:r>
              <a:rPr lang="es-MX" dirty="0" err="1"/>
              <a:t>Report</a:t>
            </a:r>
            <a:r>
              <a:rPr lang="es-MX" dirty="0"/>
              <a:t>, </a:t>
            </a:r>
            <a:r>
              <a:rPr lang="es-MX" dirty="0" err="1"/>
              <a:t>Discord</a:t>
            </a:r>
            <a:r>
              <a:rPr lang="es-MX" dirty="0"/>
              <a:t>, e Inverse,​ y para desarrollar sistemas embebidos</a:t>
            </a:r>
          </a:p>
        </p:txBody>
      </p:sp>
    </p:spTree>
    <p:extLst>
      <p:ext uri="{BB962C8B-B14F-4D97-AF65-F5344CB8AC3E}">
        <p14:creationId xmlns:p14="http://schemas.microsoft.com/office/powerpoint/2010/main" val="1840129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7" name="Rectangle 2151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8" name="Rectangle 2151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9" name="Rectangle 21514">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FEED235-D7D4-2281-53CC-B7B77DC8317A}"/>
              </a:ext>
            </a:extLst>
          </p:cNvPr>
          <p:cNvSpPr>
            <a:spLocks noGrp="1"/>
          </p:cNvSpPr>
          <p:nvPr>
            <p:ph type="title"/>
          </p:nvPr>
        </p:nvSpPr>
        <p:spPr>
          <a:xfrm>
            <a:off x="1701328" y="455362"/>
            <a:ext cx="9373074" cy="1550419"/>
          </a:xfrm>
        </p:spPr>
        <p:txBody>
          <a:bodyPr>
            <a:normAutofit/>
          </a:bodyPr>
          <a:lstStyle/>
          <a:p>
            <a:r>
              <a:rPr lang="es-US" dirty="0" err="1"/>
              <a:t>Kotlin</a:t>
            </a:r>
            <a:r>
              <a:rPr lang="es-US" dirty="0"/>
              <a:t>, en 2012</a:t>
            </a:r>
            <a:endParaRPr lang="es-MX" dirty="0"/>
          </a:p>
        </p:txBody>
      </p:sp>
      <p:sp>
        <p:nvSpPr>
          <p:cNvPr id="3" name="Marcador de contenido 2">
            <a:extLst>
              <a:ext uri="{FF2B5EF4-FFF2-40B4-BE49-F238E27FC236}">
                <a16:creationId xmlns:a16="http://schemas.microsoft.com/office/drawing/2014/main" id="{9286A67B-169A-69C7-34C4-6B206525497C}"/>
              </a:ext>
            </a:extLst>
          </p:cNvPr>
          <p:cNvSpPr>
            <a:spLocks noGrp="1"/>
          </p:cNvSpPr>
          <p:nvPr>
            <p:ph idx="1"/>
          </p:nvPr>
        </p:nvSpPr>
        <p:spPr>
          <a:xfrm>
            <a:off x="7695728" y="941696"/>
            <a:ext cx="3378672" cy="5144472"/>
          </a:xfrm>
        </p:spPr>
        <p:txBody>
          <a:bodyPr>
            <a:normAutofit fontScale="77500" lnSpcReduction="20000"/>
          </a:bodyPr>
          <a:lstStyle/>
          <a:p>
            <a:pPr algn="just"/>
            <a:r>
              <a:rPr lang="es-US" b="1" dirty="0" err="1">
                <a:solidFill>
                  <a:srgbClr val="0070C0"/>
                </a:solidFill>
              </a:rPr>
              <a:t>Kotlin</a:t>
            </a:r>
            <a:r>
              <a:rPr lang="es-US" dirty="0"/>
              <a:t> es uno de los lenguajes de programación de moda no por ser el más fácil, sino porque Google lo ha ''marcado'' como el </a:t>
            </a:r>
            <a:r>
              <a:rPr lang="es-US" b="1" dirty="0">
                <a:solidFill>
                  <a:srgbClr val="0070C0"/>
                </a:solidFill>
              </a:rPr>
              <a:t>mejor lenguaje de programación para Android </a:t>
            </a:r>
            <a:r>
              <a:rPr lang="es-US" dirty="0"/>
              <a:t>y esto ha animado a mucho a aprender a programar con él.</a:t>
            </a:r>
          </a:p>
          <a:p>
            <a:pPr algn="just"/>
            <a:r>
              <a:rPr lang="es-US" dirty="0"/>
              <a:t>Fue en el Google I/O de 2019 cuando los de Mountain View echaron una mano a </a:t>
            </a:r>
            <a:r>
              <a:rPr lang="es-US" b="1" dirty="0" err="1">
                <a:solidFill>
                  <a:srgbClr val="0070C0"/>
                </a:solidFill>
              </a:rPr>
              <a:t>JetBrains</a:t>
            </a:r>
            <a:r>
              <a:rPr lang="es-US" b="1" dirty="0">
                <a:solidFill>
                  <a:srgbClr val="0070C0"/>
                </a:solidFill>
              </a:rPr>
              <a:t>,</a:t>
            </a:r>
            <a:r>
              <a:rPr lang="es-US" dirty="0"/>
              <a:t> desarrolladores de </a:t>
            </a:r>
            <a:r>
              <a:rPr lang="es-US" dirty="0" err="1"/>
              <a:t>Kotlin</a:t>
            </a:r>
            <a:r>
              <a:rPr lang="es-US" dirty="0"/>
              <a:t>, afirmando que Android será cada vez más </a:t>
            </a:r>
            <a:r>
              <a:rPr lang="es-US" dirty="0" err="1"/>
              <a:t>Kotlin</a:t>
            </a:r>
            <a:r>
              <a:rPr lang="es-US" dirty="0"/>
              <a:t> y, por tanto, dando más facilidades para los desarrolladores que trabajen con dicho lenguaje.</a:t>
            </a:r>
          </a:p>
          <a:p>
            <a:endParaRPr lang="es-MX" dirty="0"/>
          </a:p>
        </p:txBody>
      </p:sp>
      <p:pic>
        <p:nvPicPr>
          <p:cNvPr id="21506" name="Picture 2" descr="Tu primer programa en Kotlin">
            <a:extLst>
              <a:ext uri="{FF2B5EF4-FFF2-40B4-BE49-F238E27FC236}">
                <a16:creationId xmlns:a16="http://schemas.microsoft.com/office/drawing/2014/main" id="{36437BEB-A205-394A-5295-310AFC3BA3F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01327" y="2377040"/>
            <a:ext cx="5565250" cy="190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3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55" name="Rectangle 27654">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650" name="Picture 2" descr="Steve Lucco - Chief Scientist at Highspot | The Org">
            <a:extLst>
              <a:ext uri="{FF2B5EF4-FFF2-40B4-BE49-F238E27FC236}">
                <a16:creationId xmlns:a16="http://schemas.microsoft.com/office/drawing/2014/main" id="{65F0B883-2B34-663A-9760-E5B4E5E770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98" r="27448"/>
          <a:stretch/>
        </p:blipFill>
        <p:spPr bwMode="auto">
          <a:xfrm>
            <a:off x="20" y="10"/>
            <a:ext cx="4173348" cy="6857990"/>
          </a:xfrm>
          <a:custGeom>
            <a:avLst/>
            <a:gdLst/>
            <a:ahLst/>
            <a:cxnLst/>
            <a:rect l="l" t="t" r="r" b="b"/>
            <a:pathLst>
              <a:path w="4173368" h="6858000">
                <a:moveTo>
                  <a:pt x="0" y="0"/>
                </a:moveTo>
                <a:lnTo>
                  <a:pt x="3603641" y="0"/>
                </a:lnTo>
                <a:lnTo>
                  <a:pt x="3603641" y="565149"/>
                </a:lnTo>
                <a:lnTo>
                  <a:pt x="4173368" y="565149"/>
                </a:lnTo>
                <a:lnTo>
                  <a:pt x="4173368"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7657" name="Rectangle 2765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951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9" name="Rectangle 27658">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951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99F0BE9-0A64-5EEB-A8C5-D7224F65B58D}"/>
              </a:ext>
            </a:extLst>
          </p:cNvPr>
          <p:cNvSpPr>
            <a:spLocks noGrp="1"/>
          </p:cNvSpPr>
          <p:nvPr>
            <p:ph type="title"/>
          </p:nvPr>
        </p:nvSpPr>
        <p:spPr>
          <a:xfrm>
            <a:off x="4635040" y="455363"/>
            <a:ext cx="6991800" cy="932822"/>
          </a:xfrm>
        </p:spPr>
        <p:txBody>
          <a:bodyPr>
            <a:normAutofit/>
          </a:bodyPr>
          <a:lstStyle/>
          <a:p>
            <a:r>
              <a:rPr lang="es-MX" dirty="0" err="1"/>
              <a:t>TypeScript</a:t>
            </a:r>
            <a:endParaRPr lang="es-MX" dirty="0"/>
          </a:p>
        </p:txBody>
      </p:sp>
      <p:sp>
        <p:nvSpPr>
          <p:cNvPr id="3" name="Marcador de contenido 2">
            <a:extLst>
              <a:ext uri="{FF2B5EF4-FFF2-40B4-BE49-F238E27FC236}">
                <a16:creationId xmlns:a16="http://schemas.microsoft.com/office/drawing/2014/main" id="{D26EC438-BB38-B614-D0AE-3D474B68A317}"/>
              </a:ext>
            </a:extLst>
          </p:cNvPr>
          <p:cNvSpPr>
            <a:spLocks noGrp="1"/>
          </p:cNvSpPr>
          <p:nvPr>
            <p:ph idx="1"/>
          </p:nvPr>
        </p:nvSpPr>
        <p:spPr>
          <a:xfrm>
            <a:off x="4635040" y="1823811"/>
            <a:ext cx="6638011" cy="4598562"/>
          </a:xfrm>
        </p:spPr>
        <p:txBody>
          <a:bodyPr>
            <a:normAutofit/>
          </a:bodyPr>
          <a:lstStyle/>
          <a:p>
            <a:pPr algn="just"/>
            <a:r>
              <a:rPr lang="es-US" b="1" dirty="0">
                <a:solidFill>
                  <a:srgbClr val="0070C0"/>
                </a:solidFill>
              </a:rPr>
              <a:t>2012</a:t>
            </a:r>
            <a:r>
              <a:rPr lang="es-US" dirty="0"/>
              <a:t> fue el año en que </a:t>
            </a:r>
            <a:r>
              <a:rPr lang="es-US" b="1" dirty="0" err="1">
                <a:solidFill>
                  <a:srgbClr val="0070C0"/>
                </a:solidFill>
              </a:rPr>
              <a:t>Typescript</a:t>
            </a:r>
            <a:r>
              <a:rPr lang="es-US" b="1" dirty="0">
                <a:solidFill>
                  <a:srgbClr val="0070C0"/>
                </a:solidFill>
              </a:rPr>
              <a:t> </a:t>
            </a:r>
            <a:r>
              <a:rPr lang="es-US" dirty="0"/>
              <a:t>apareció, una solución de Microsoft </a:t>
            </a:r>
            <a:r>
              <a:rPr lang="es-US" b="1" dirty="0">
                <a:solidFill>
                  <a:srgbClr val="0070C0"/>
                </a:solidFill>
              </a:rPr>
              <a:t>para el desarrollo de aplicaciones con </a:t>
            </a:r>
            <a:r>
              <a:rPr lang="es-US" b="1" dirty="0" err="1">
                <a:solidFill>
                  <a:srgbClr val="0070C0"/>
                </a:solidFill>
              </a:rPr>
              <a:t>Javascript</a:t>
            </a:r>
            <a:r>
              <a:rPr lang="es-US" b="1" dirty="0">
                <a:solidFill>
                  <a:srgbClr val="0070C0"/>
                </a:solidFill>
              </a:rPr>
              <a:t> a gran escala</a:t>
            </a:r>
            <a:r>
              <a:rPr lang="es-US" dirty="0"/>
              <a:t>, para ellos y para sus clientes. </a:t>
            </a:r>
            <a:r>
              <a:rPr lang="es-US" b="1" dirty="0">
                <a:solidFill>
                  <a:srgbClr val="0070C0"/>
                </a:solidFill>
              </a:rPr>
              <a:t>Steve </a:t>
            </a:r>
            <a:r>
              <a:rPr lang="es-US" b="1" dirty="0" err="1">
                <a:solidFill>
                  <a:srgbClr val="0070C0"/>
                </a:solidFill>
              </a:rPr>
              <a:t>Lucco</a:t>
            </a:r>
            <a:r>
              <a:rPr lang="es-US" b="1" dirty="0">
                <a:solidFill>
                  <a:srgbClr val="0070C0"/>
                </a:solidFill>
              </a:rPr>
              <a:t> y un equipo de más de 50</a:t>
            </a:r>
            <a:r>
              <a:rPr lang="es-US" b="1" dirty="0"/>
              <a:t> </a:t>
            </a:r>
            <a:r>
              <a:rPr lang="es-US" dirty="0"/>
              <a:t>personas que incluía a </a:t>
            </a:r>
            <a:r>
              <a:rPr lang="es-US" b="1" dirty="0" err="1">
                <a:solidFill>
                  <a:srgbClr val="0070C0"/>
                </a:solidFill>
              </a:rPr>
              <a:t>Anders</a:t>
            </a:r>
            <a:r>
              <a:rPr lang="es-US" b="1" dirty="0">
                <a:solidFill>
                  <a:srgbClr val="0070C0"/>
                </a:solidFill>
              </a:rPr>
              <a:t> </a:t>
            </a:r>
            <a:r>
              <a:rPr lang="es-US" b="1" dirty="0" err="1">
                <a:solidFill>
                  <a:srgbClr val="0070C0"/>
                </a:solidFill>
              </a:rPr>
              <a:t>Hejlsberg</a:t>
            </a:r>
            <a:r>
              <a:rPr lang="es-US" dirty="0"/>
              <a:t>, </a:t>
            </a:r>
            <a:r>
              <a:rPr lang="es-US" b="1" dirty="0">
                <a:solidFill>
                  <a:srgbClr val="0070C0"/>
                </a:solidFill>
              </a:rPr>
              <a:t>Lead </a:t>
            </a:r>
            <a:r>
              <a:rPr lang="es-US" b="1" dirty="0" err="1">
                <a:solidFill>
                  <a:srgbClr val="0070C0"/>
                </a:solidFill>
              </a:rPr>
              <a:t>Architect</a:t>
            </a:r>
            <a:r>
              <a:rPr lang="es-US" b="1" dirty="0">
                <a:solidFill>
                  <a:srgbClr val="0070C0"/>
                </a:solidFill>
              </a:rPr>
              <a:t> </a:t>
            </a:r>
            <a:r>
              <a:rPr lang="es-US" dirty="0"/>
              <a:t>de C# y creador de Delphi y Turbo Pascal desarrollaron </a:t>
            </a:r>
            <a:r>
              <a:rPr lang="es-US" dirty="0" err="1"/>
              <a:t>Typescript</a:t>
            </a:r>
            <a:r>
              <a:rPr lang="es-US" dirty="0"/>
              <a:t> en Microsoft, un proyecto que originalmente se conoció como </a:t>
            </a:r>
            <a:r>
              <a:rPr lang="es-US" b="1" dirty="0" err="1">
                <a:solidFill>
                  <a:srgbClr val="0070C0"/>
                </a:solidFill>
              </a:rPr>
              <a:t>Strada</a:t>
            </a:r>
            <a:r>
              <a:rPr lang="es-US" dirty="0"/>
              <a:t>.</a:t>
            </a:r>
            <a:endParaRPr lang="es-MX" dirty="0"/>
          </a:p>
        </p:txBody>
      </p:sp>
    </p:spTree>
    <p:extLst>
      <p:ext uri="{BB962C8B-B14F-4D97-AF65-F5344CB8AC3E}">
        <p14:creationId xmlns:p14="http://schemas.microsoft.com/office/powerpoint/2010/main" val="1910246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30" name="Picture 2" descr="Swift gana tanto terreno como el que pierde Objective-C y se cuela en el  TOP 10 de lenguajes más populares, según el índice TIOBE">
            <a:extLst>
              <a:ext uri="{FF2B5EF4-FFF2-40B4-BE49-F238E27FC236}">
                <a16:creationId xmlns:a16="http://schemas.microsoft.com/office/drawing/2014/main" id="{A8140C2D-7F2E-72B1-66A3-448943D4C1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046" r="9117"/>
          <a:stretch/>
        </p:blipFill>
        <p:spPr bwMode="auto">
          <a:xfrm>
            <a:off x="4755769" y="-7"/>
            <a:ext cx="7443597" cy="6857990"/>
          </a:xfrm>
          <a:prstGeom prst="rect">
            <a:avLst/>
          </a:prstGeom>
          <a:noFill/>
          <a:extLst>
            <a:ext uri="{909E8E84-426E-40DD-AFC4-6F175D3DCCD1}">
              <a14:hiddenFill xmlns:a14="http://schemas.microsoft.com/office/drawing/2010/main">
                <a:solidFill>
                  <a:srgbClr val="FFFFFF"/>
                </a:solidFill>
              </a14:hiddenFill>
            </a:ext>
          </a:extLst>
        </p:spPr>
      </p:pic>
      <p:sp>
        <p:nvSpPr>
          <p:cNvPr id="22537" name="Rectangle 2253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403"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9" name="Rectangle 22538">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403"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23A1BC-5FC7-5F0C-C7B2-4291041F6407}"/>
              </a:ext>
            </a:extLst>
          </p:cNvPr>
          <p:cNvSpPr>
            <a:spLocks noGrp="1"/>
          </p:cNvSpPr>
          <p:nvPr>
            <p:ph type="title"/>
          </p:nvPr>
        </p:nvSpPr>
        <p:spPr>
          <a:xfrm>
            <a:off x="5882259" y="318886"/>
            <a:ext cx="5522087" cy="932822"/>
          </a:xfrm>
        </p:spPr>
        <p:txBody>
          <a:bodyPr>
            <a:normAutofit/>
          </a:bodyPr>
          <a:lstStyle/>
          <a:p>
            <a:r>
              <a:rPr lang="es-US" dirty="0">
                <a:ln>
                  <a:solidFill>
                    <a:srgbClr val="FFC000"/>
                  </a:solidFill>
                </a:ln>
                <a:solidFill>
                  <a:schemeClr val="accent4"/>
                </a:solidFill>
              </a:rPr>
              <a:t>Swift, en 2013</a:t>
            </a:r>
            <a:endParaRPr lang="es-MX" dirty="0">
              <a:ln>
                <a:solidFill>
                  <a:srgbClr val="FFC000"/>
                </a:solidFill>
              </a:ln>
              <a:solidFill>
                <a:schemeClr val="accent4"/>
              </a:solidFill>
            </a:endParaRPr>
          </a:p>
        </p:txBody>
      </p:sp>
      <p:sp>
        <p:nvSpPr>
          <p:cNvPr id="3" name="Marcador de contenido 2">
            <a:extLst>
              <a:ext uri="{FF2B5EF4-FFF2-40B4-BE49-F238E27FC236}">
                <a16:creationId xmlns:a16="http://schemas.microsoft.com/office/drawing/2014/main" id="{6FB829DE-5D6E-9486-0081-E30F5EB658D4}"/>
              </a:ext>
            </a:extLst>
          </p:cNvPr>
          <p:cNvSpPr>
            <a:spLocks noGrp="1"/>
          </p:cNvSpPr>
          <p:nvPr>
            <p:ph idx="1"/>
          </p:nvPr>
        </p:nvSpPr>
        <p:spPr>
          <a:xfrm>
            <a:off x="576072" y="791570"/>
            <a:ext cx="3603625" cy="5294598"/>
          </a:xfrm>
        </p:spPr>
        <p:txBody>
          <a:bodyPr>
            <a:normAutofit lnSpcReduction="10000"/>
          </a:bodyPr>
          <a:lstStyle/>
          <a:p>
            <a:pPr algn="just"/>
            <a:r>
              <a:rPr lang="es-US" b="1" dirty="0">
                <a:solidFill>
                  <a:srgbClr val="0070C0"/>
                </a:solidFill>
              </a:rPr>
              <a:t>Swift</a:t>
            </a:r>
            <a:r>
              <a:rPr lang="es-US" dirty="0"/>
              <a:t> es un lenguaje de programación poderoso e intuitivo creado por </a:t>
            </a:r>
            <a:r>
              <a:rPr lang="es-US" b="1" dirty="0">
                <a:solidFill>
                  <a:srgbClr val="0070C0"/>
                </a:solidFill>
              </a:rPr>
              <a:t>Apple </a:t>
            </a:r>
            <a:r>
              <a:rPr lang="es-US" dirty="0"/>
              <a:t>para </a:t>
            </a:r>
            <a:r>
              <a:rPr lang="es-US" b="1" dirty="0">
                <a:solidFill>
                  <a:srgbClr val="0070C0"/>
                </a:solidFill>
              </a:rPr>
              <a:t>desarrollar apps de iOS</a:t>
            </a:r>
            <a:r>
              <a:rPr lang="es-US" dirty="0"/>
              <a:t>, Mac, Apple TV y Apple </a:t>
            </a:r>
            <a:r>
              <a:rPr lang="es-US" dirty="0" err="1"/>
              <a:t>Watch</a:t>
            </a:r>
            <a:r>
              <a:rPr lang="es-US" dirty="0"/>
              <a:t>. Está diseñado para </a:t>
            </a:r>
            <a:r>
              <a:rPr lang="es-US" b="1" dirty="0">
                <a:solidFill>
                  <a:srgbClr val="0070C0"/>
                </a:solidFill>
              </a:rPr>
              <a:t>brindar a los desarrolladores más libertad </a:t>
            </a:r>
            <a:r>
              <a:rPr lang="es-US" dirty="0"/>
              <a:t>que nunca. Y como es fácil de usar y de código abierto, es ideal para que cualquier persona con una idea pueda hacerla realidad.</a:t>
            </a:r>
          </a:p>
        </p:txBody>
      </p:sp>
    </p:spTree>
    <p:extLst>
      <p:ext uri="{BB962C8B-B14F-4D97-AF65-F5344CB8AC3E}">
        <p14:creationId xmlns:p14="http://schemas.microsoft.com/office/powerpoint/2010/main" val="2925646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1D8BD2-F281-1857-71A6-E2647B2A071A}"/>
              </a:ext>
            </a:extLst>
          </p:cNvPr>
          <p:cNvSpPr>
            <a:spLocks noGrp="1"/>
          </p:cNvSpPr>
          <p:nvPr>
            <p:ph type="title"/>
          </p:nvPr>
        </p:nvSpPr>
        <p:spPr>
          <a:xfrm>
            <a:off x="1587710" y="455363"/>
            <a:ext cx="8729997" cy="800232"/>
          </a:xfrm>
        </p:spPr>
        <p:txBody>
          <a:bodyPr/>
          <a:lstStyle/>
          <a:p>
            <a:pPr algn="ctr"/>
            <a:r>
              <a:rPr lang="es-MX" dirty="0">
                <a:ln>
                  <a:solidFill>
                    <a:srgbClr val="0070C0"/>
                  </a:solidFill>
                </a:ln>
              </a:rPr>
              <a:t>Bibliografía</a:t>
            </a:r>
          </a:p>
        </p:txBody>
      </p:sp>
      <p:sp>
        <p:nvSpPr>
          <p:cNvPr id="3" name="Marcador de contenido 2">
            <a:extLst>
              <a:ext uri="{FF2B5EF4-FFF2-40B4-BE49-F238E27FC236}">
                <a16:creationId xmlns:a16="http://schemas.microsoft.com/office/drawing/2014/main" id="{AF001A07-341B-0C2F-B595-42F373D60026}"/>
              </a:ext>
            </a:extLst>
          </p:cNvPr>
          <p:cNvSpPr>
            <a:spLocks noGrp="1"/>
          </p:cNvSpPr>
          <p:nvPr>
            <p:ph idx="1"/>
          </p:nvPr>
        </p:nvSpPr>
        <p:spPr>
          <a:xfrm>
            <a:off x="1352655" y="1465924"/>
            <a:ext cx="9486690" cy="3926152"/>
          </a:xfrm>
        </p:spPr>
        <p:txBody>
          <a:bodyPr/>
          <a:lstStyle/>
          <a:p>
            <a:r>
              <a:rPr lang="es-US" sz="1800" i="1" dirty="0">
                <a:effectLst/>
                <a:latin typeface="Times New Roman" panose="02020603050405020304" pitchFamily="18" charset="0"/>
              </a:rPr>
              <a:t>Wiki </a:t>
            </a:r>
            <a:r>
              <a:rPr lang="es-US" sz="1800" i="1" dirty="0" err="1">
                <a:effectLst/>
                <a:latin typeface="Times New Roman" panose="02020603050405020304" pitchFamily="18" charset="0"/>
              </a:rPr>
              <a:t>Targeted</a:t>
            </a:r>
            <a:r>
              <a:rPr lang="es-US" sz="1800" i="1" dirty="0">
                <a:effectLst/>
                <a:latin typeface="Times New Roman" panose="02020603050405020304" pitchFamily="18" charset="0"/>
              </a:rPr>
              <a:t> (</a:t>
            </a:r>
            <a:r>
              <a:rPr lang="es-US" sz="1800" i="1" dirty="0" err="1">
                <a:effectLst/>
                <a:latin typeface="Times New Roman" panose="02020603050405020304" pitchFamily="18" charset="0"/>
              </a:rPr>
              <a:t>Entertainment</a:t>
            </a:r>
            <a:r>
              <a:rPr lang="es-US" sz="1800" i="1" dirty="0">
                <a:effectLst/>
                <a:latin typeface="Times New Roman" panose="02020603050405020304" pitchFamily="18" charset="0"/>
              </a:rPr>
              <a:t>)</a:t>
            </a:r>
            <a:r>
              <a:rPr lang="es-US" sz="1800" dirty="0">
                <a:effectLst/>
                <a:latin typeface="Times New Roman" panose="02020603050405020304" pitchFamily="18" charset="0"/>
              </a:rPr>
              <a:t>. (s. f.). Genios de la Computación y la Informática Wiki. Recuperado 1 de noviembre de 2022, de </a:t>
            </a:r>
            <a:r>
              <a:rPr lang="es-US" sz="1800" dirty="0">
                <a:effectLst/>
                <a:latin typeface="Times New Roman" panose="02020603050405020304" pitchFamily="18" charset="0"/>
                <a:hlinkClick r:id="rId2"/>
              </a:rPr>
              <a:t>https://genios-computacion-1001.fandom.com/es/wiki/Joseph_Jacquard</a:t>
            </a:r>
            <a:endParaRPr lang="es-US" sz="1800" dirty="0">
              <a:effectLst/>
              <a:latin typeface="Times New Roman" panose="02020603050405020304" pitchFamily="18" charset="0"/>
            </a:endParaRPr>
          </a:p>
          <a:p>
            <a:r>
              <a:rPr lang="es-MX" sz="1800" dirty="0" err="1">
                <a:effectLst/>
                <a:latin typeface="Times New Roman" panose="02020603050405020304" pitchFamily="18" charset="0"/>
              </a:rPr>
              <a:t>Timetoast</a:t>
            </a:r>
            <a:r>
              <a:rPr lang="es-MX" sz="1800" dirty="0">
                <a:effectLst/>
                <a:latin typeface="Times New Roman" panose="02020603050405020304" pitchFamily="18" charset="0"/>
              </a:rPr>
              <a:t>. (1801, 1 enero). </a:t>
            </a:r>
            <a:r>
              <a:rPr lang="es-MX" sz="1800" i="1" dirty="0">
                <a:effectLst/>
                <a:latin typeface="Times New Roman" panose="02020603050405020304" pitchFamily="18" charset="0"/>
              </a:rPr>
              <a:t>Evolución del ordenador timeline.</a:t>
            </a:r>
            <a:r>
              <a:rPr lang="es-MX" sz="1800" dirty="0">
                <a:effectLst/>
                <a:latin typeface="Times New Roman" panose="02020603050405020304" pitchFamily="18" charset="0"/>
              </a:rPr>
              <a:t> </a:t>
            </a:r>
            <a:r>
              <a:rPr lang="es-MX" sz="1800" dirty="0" err="1">
                <a:effectLst/>
                <a:latin typeface="Times New Roman" panose="02020603050405020304" pitchFamily="18" charset="0"/>
              </a:rPr>
              <a:t>Timetoast</a:t>
            </a:r>
            <a:r>
              <a:rPr lang="es-MX" sz="1800" dirty="0">
                <a:effectLst/>
                <a:latin typeface="Times New Roman" panose="02020603050405020304" pitchFamily="18" charset="0"/>
              </a:rPr>
              <a:t> timelines. </a:t>
            </a:r>
            <a:r>
              <a:rPr lang="es-MX" sz="1800" dirty="0">
                <a:effectLst/>
                <a:latin typeface="Times New Roman" panose="02020603050405020304" pitchFamily="18" charset="0"/>
                <a:hlinkClick r:id="rId3"/>
              </a:rPr>
              <a:t>https://www.timetoast.com/timelines/evolucion-del-ordenador-9615f060-ec47-462e-afae-3cb500fa5f60</a:t>
            </a:r>
            <a:endParaRPr lang="es-MX" sz="1800" dirty="0">
              <a:effectLst/>
              <a:latin typeface="Times New Roman" panose="02020603050405020304" pitchFamily="18" charset="0"/>
            </a:endParaRPr>
          </a:p>
          <a:p>
            <a:r>
              <a:rPr lang="es-US" sz="1800" dirty="0">
                <a:effectLst/>
                <a:latin typeface="Times New Roman" panose="02020603050405020304" pitchFamily="18" charset="0"/>
              </a:rPr>
              <a:t>López, J. M. (2022, 18 marzo). </a:t>
            </a:r>
            <a:r>
              <a:rPr lang="es-US" sz="1800" i="1" dirty="0">
                <a:effectLst/>
                <a:latin typeface="Times New Roman" panose="02020603050405020304" pitchFamily="18" charset="0"/>
              </a:rPr>
              <a:t>El ordenador que necesitó más de 150 años en ser construido</a:t>
            </a:r>
            <a:r>
              <a:rPr lang="es-US" sz="1800" dirty="0">
                <a:effectLst/>
                <a:latin typeface="Times New Roman" panose="02020603050405020304" pitchFamily="18" charset="0"/>
              </a:rPr>
              <a:t>. Hipertextual. </a:t>
            </a:r>
            <a:r>
              <a:rPr lang="es-US" sz="1800" dirty="0">
                <a:effectLst/>
                <a:latin typeface="Times New Roman" panose="02020603050405020304" pitchFamily="18" charset="0"/>
                <a:hlinkClick r:id="rId4"/>
              </a:rPr>
              <a:t>https://hipertextual.com/2022/03/maquina-analitica-charles-babbage</a:t>
            </a:r>
            <a:endParaRPr lang="es-US" sz="1800" dirty="0">
              <a:effectLst/>
              <a:latin typeface="Times New Roman" panose="02020603050405020304" pitchFamily="18" charset="0"/>
            </a:endParaRPr>
          </a:p>
          <a:p>
            <a:r>
              <a:rPr lang="nn-NO" sz="1800" i="1" dirty="0">
                <a:effectLst/>
                <a:latin typeface="Times New Roman" panose="02020603050405020304" pitchFamily="18" charset="0"/>
              </a:rPr>
              <a:t>nytimes.com</a:t>
            </a:r>
            <a:r>
              <a:rPr lang="nn-NO" sz="1800" dirty="0">
                <a:effectLst/>
                <a:latin typeface="Times New Roman" panose="02020603050405020304" pitchFamily="18" charset="0"/>
              </a:rPr>
              <a:t>. (2018, 14 mayo). </a:t>
            </a:r>
            <a:r>
              <a:rPr lang="nn-NO" sz="1800" dirty="0">
                <a:effectLst/>
                <a:latin typeface="Times New Roman" panose="02020603050405020304" pitchFamily="18" charset="0"/>
                <a:hlinkClick r:id="rId5"/>
              </a:rPr>
              <a:t>https://www.nytimes.com/es/2018/05/14/espanol/cultura/alan-turing-patrones-informatica.html</a:t>
            </a:r>
            <a:endParaRPr lang="nn-NO" sz="1800" dirty="0">
              <a:effectLst/>
              <a:latin typeface="Times New Roman" panose="02020603050405020304" pitchFamily="18" charset="0"/>
            </a:endParaRPr>
          </a:p>
          <a:p>
            <a:endParaRPr lang="nn-NO"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1378667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FD44A-CE98-C878-1EA3-A68624A5386D}"/>
              </a:ext>
            </a:extLst>
          </p:cNvPr>
          <p:cNvSpPr>
            <a:spLocks noGrp="1"/>
          </p:cNvSpPr>
          <p:nvPr>
            <p:ph idx="1"/>
          </p:nvPr>
        </p:nvSpPr>
        <p:spPr>
          <a:xfrm>
            <a:off x="1587710" y="600501"/>
            <a:ext cx="9486690" cy="5485667"/>
          </a:xfrm>
        </p:spPr>
        <p:txBody>
          <a:bodyPr/>
          <a:lstStyle/>
          <a:p>
            <a:r>
              <a:rPr lang="es-US" sz="1800" dirty="0">
                <a:effectLst/>
                <a:latin typeface="Times New Roman" panose="02020603050405020304" pitchFamily="18" charset="0"/>
              </a:rPr>
              <a:t>colaboradores de Wikipedia. (2022, 10 octubre). </a:t>
            </a:r>
            <a:r>
              <a:rPr lang="es-US" sz="1800" i="1" dirty="0">
                <a:effectLst/>
                <a:latin typeface="Times New Roman" panose="02020603050405020304" pitchFamily="18" charset="0"/>
              </a:rPr>
              <a:t>Fortran</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2"/>
              </a:rPr>
              <a:t>https://es.wikipedia.org/wiki/Fortran</a:t>
            </a:r>
            <a:endParaRPr lang="es-US" sz="1800" dirty="0">
              <a:effectLst/>
              <a:latin typeface="Times New Roman" panose="02020603050405020304" pitchFamily="18" charset="0"/>
            </a:endParaRPr>
          </a:p>
          <a:p>
            <a:r>
              <a:rPr lang="es-MX" sz="1800" i="1" dirty="0" err="1">
                <a:effectLst/>
                <a:latin typeface="Times New Roman" panose="02020603050405020304" pitchFamily="18" charset="0"/>
              </a:rPr>
              <a:t>Biografia</a:t>
            </a:r>
            <a:r>
              <a:rPr lang="es-MX" sz="1800" i="1" dirty="0">
                <a:effectLst/>
                <a:latin typeface="Times New Roman" panose="02020603050405020304" pitchFamily="18" charset="0"/>
              </a:rPr>
              <a:t> de John Warner Backus</a:t>
            </a:r>
            <a:r>
              <a:rPr lang="es-MX" sz="1800" dirty="0">
                <a:effectLst/>
                <a:latin typeface="Times New Roman" panose="02020603050405020304" pitchFamily="18" charset="0"/>
              </a:rPr>
              <a:t>. (s. f.). Recuperado 1 de noviembre de 2022, de </a:t>
            </a:r>
            <a:r>
              <a:rPr lang="es-MX" sz="1800" dirty="0">
                <a:effectLst/>
                <a:latin typeface="Times New Roman" panose="02020603050405020304" pitchFamily="18" charset="0"/>
                <a:hlinkClick r:id="rId3"/>
              </a:rPr>
              <a:t>https://www.biografiasyvidas.com/biografia/b/backus.htm</a:t>
            </a:r>
            <a:endParaRPr lang="es-MX" sz="1800" dirty="0">
              <a:effectLst/>
              <a:latin typeface="Times New Roman" panose="02020603050405020304" pitchFamily="18" charset="0"/>
            </a:endParaRPr>
          </a:p>
          <a:p>
            <a:r>
              <a:rPr lang="es-US" sz="1800" i="1" dirty="0">
                <a:effectLst/>
                <a:latin typeface="Times New Roman" panose="02020603050405020304" pitchFamily="18" charset="0"/>
              </a:rPr>
              <a:t>Ciencias para el mundo contemporáneo</a:t>
            </a:r>
            <a:r>
              <a:rPr lang="es-US" sz="1800" dirty="0">
                <a:effectLst/>
                <a:latin typeface="Times New Roman" panose="02020603050405020304" pitchFamily="18" charset="0"/>
              </a:rPr>
              <a:t>. (s. f.). Recuperado 1 de noviembre de 2022, de </a:t>
            </a:r>
            <a:r>
              <a:rPr lang="es-US" sz="1800" dirty="0">
                <a:effectLst/>
                <a:latin typeface="Times New Roman" panose="02020603050405020304" pitchFamily="18" charset="0"/>
                <a:hlinkClick r:id="rId4"/>
              </a:rPr>
              <a:t>http://www3.gobiernodecanarias.org/aciisi/cienciasmc/web/biografias/grace_murray_u9.html</a:t>
            </a:r>
            <a:endParaRPr lang="es-US" sz="1800" dirty="0">
              <a:effectLst/>
              <a:latin typeface="Times New Roman" panose="02020603050405020304" pitchFamily="18" charset="0"/>
            </a:endParaRPr>
          </a:p>
          <a:p>
            <a:r>
              <a:rPr lang="es-US" sz="1800" dirty="0" err="1">
                <a:effectLst/>
                <a:latin typeface="Times New Roman" panose="02020603050405020304" pitchFamily="18" charset="0"/>
              </a:rPr>
              <a:t>Stadler</a:t>
            </a:r>
            <a:r>
              <a:rPr lang="es-US" sz="1800" dirty="0">
                <a:effectLst/>
                <a:latin typeface="Times New Roman" panose="02020603050405020304" pitchFamily="18" charset="0"/>
              </a:rPr>
              <a:t>, M. M. (2020, 2 enero). </a:t>
            </a:r>
            <a:r>
              <a:rPr lang="es-US" sz="1800" i="1" dirty="0">
                <a:effectLst/>
                <a:latin typeface="Times New Roman" panose="02020603050405020304" pitchFamily="18" charset="0"/>
              </a:rPr>
              <a:t>La matemática Grace Hopper y el (re)vuelo de la polilla</a:t>
            </a:r>
            <a:r>
              <a:rPr lang="es-US" sz="1800" dirty="0">
                <a:effectLst/>
                <a:latin typeface="Times New Roman" panose="02020603050405020304" pitchFamily="18" charset="0"/>
              </a:rPr>
              <a:t>. Mujeres con ciencia. </a:t>
            </a:r>
            <a:r>
              <a:rPr lang="es-US" sz="1800" dirty="0">
                <a:effectLst/>
                <a:latin typeface="Times New Roman" panose="02020603050405020304" pitchFamily="18" charset="0"/>
                <a:hlinkClick r:id="rId5"/>
              </a:rPr>
              <a:t>https://mujeresconciencia.com/2020/01/02/la-matematica-grace-hopper-y-el-revuelo-de-la-polilla/</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(2022a, mayo 3). </a:t>
            </a:r>
            <a:r>
              <a:rPr lang="es-US" sz="1800" i="1" dirty="0">
                <a:effectLst/>
                <a:latin typeface="Times New Roman" panose="02020603050405020304" pitchFamily="18" charset="0"/>
              </a:rPr>
              <a:t>BASIC</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6"/>
              </a:rPr>
              <a:t>https://es.wikipedia.org/wiki/BASIC</a:t>
            </a:r>
            <a:endParaRPr lang="es-US" sz="1800" dirty="0">
              <a:effectLst/>
              <a:latin typeface="Times New Roman" panose="02020603050405020304" pitchFamily="18" charset="0"/>
            </a:endParaRPr>
          </a:p>
          <a:p>
            <a:r>
              <a:rPr lang="es-MX" sz="1800" dirty="0">
                <a:effectLst/>
                <a:latin typeface="Times New Roman" panose="02020603050405020304" pitchFamily="18" charset="0"/>
              </a:rPr>
              <a:t>Wikipedia </a:t>
            </a:r>
            <a:r>
              <a:rPr lang="es-MX" sz="1800" dirty="0" err="1">
                <a:effectLst/>
                <a:latin typeface="Times New Roman" panose="02020603050405020304" pitchFamily="18" charset="0"/>
              </a:rPr>
              <a:t>contributors</a:t>
            </a:r>
            <a:r>
              <a:rPr lang="es-MX" sz="1800" dirty="0">
                <a:effectLst/>
                <a:latin typeface="Times New Roman" panose="02020603050405020304" pitchFamily="18" charset="0"/>
              </a:rPr>
              <a:t>. (2022, 27 octubre). </a:t>
            </a:r>
            <a:r>
              <a:rPr lang="es-MX" sz="1800" i="1" dirty="0">
                <a:effectLst/>
                <a:latin typeface="Times New Roman" panose="02020603050405020304" pitchFamily="18" charset="0"/>
              </a:rPr>
              <a:t>John G. </a:t>
            </a:r>
            <a:r>
              <a:rPr lang="es-MX" sz="1800" i="1" dirty="0" err="1">
                <a:effectLst/>
                <a:latin typeface="Times New Roman" panose="02020603050405020304" pitchFamily="18" charset="0"/>
              </a:rPr>
              <a:t>Kemeny</a:t>
            </a:r>
            <a:r>
              <a:rPr lang="es-MX" sz="1800" dirty="0">
                <a:effectLst/>
                <a:latin typeface="Times New Roman" panose="02020603050405020304" pitchFamily="18" charset="0"/>
              </a:rPr>
              <a:t>. Wikipedia. </a:t>
            </a:r>
            <a:r>
              <a:rPr lang="es-MX" sz="1800" dirty="0">
                <a:effectLst/>
                <a:latin typeface="Times New Roman" panose="02020603050405020304" pitchFamily="18" charset="0"/>
                <a:hlinkClick r:id="rId7"/>
              </a:rPr>
              <a:t>https://en.wikipedia.org/wiki/John_G._Kemeny</a:t>
            </a:r>
            <a:endParaRPr lang="es-MX"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4117305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1B194E1-5516-DAFF-9B7A-260DC9192B55}"/>
              </a:ext>
            </a:extLst>
          </p:cNvPr>
          <p:cNvSpPr>
            <a:spLocks noGrp="1"/>
          </p:cNvSpPr>
          <p:nvPr>
            <p:ph idx="1"/>
          </p:nvPr>
        </p:nvSpPr>
        <p:spPr>
          <a:xfrm>
            <a:off x="1587710" y="627797"/>
            <a:ext cx="9486690" cy="5458371"/>
          </a:xfrm>
        </p:spPr>
        <p:txBody>
          <a:bodyPr/>
          <a:lstStyle/>
          <a:p>
            <a:r>
              <a:rPr lang="es-MX" sz="1800" dirty="0">
                <a:effectLst/>
                <a:latin typeface="Times New Roman" panose="02020603050405020304" pitchFamily="18" charset="0"/>
              </a:rPr>
              <a:t>Madrid, J. E. L. P. /. (s. f.). </a:t>
            </a:r>
            <a:r>
              <a:rPr lang="es-MX" sz="1800" i="1" dirty="0">
                <a:effectLst/>
                <a:latin typeface="Times New Roman" panose="02020603050405020304" pitchFamily="18" charset="0"/>
              </a:rPr>
              <a:t>Wirth, </a:t>
            </a:r>
            <a:r>
              <a:rPr lang="es-MX" sz="1800" i="1" dirty="0" err="1">
                <a:effectLst/>
                <a:latin typeface="Times New Roman" panose="02020603050405020304" pitchFamily="18" charset="0"/>
              </a:rPr>
              <a:t>Niklaus</a:t>
            </a:r>
            <a:r>
              <a:rPr lang="es-MX" sz="1800" i="1" dirty="0">
                <a:effectLst/>
                <a:latin typeface="Times New Roman" panose="02020603050405020304" pitchFamily="18" charset="0"/>
              </a:rPr>
              <a:t> - GTI - Glosario </a:t>
            </a:r>
            <a:r>
              <a:rPr lang="es-MX" sz="1800" i="1" dirty="0" err="1">
                <a:effectLst/>
                <a:latin typeface="Times New Roman" panose="02020603050405020304" pitchFamily="18" charset="0"/>
              </a:rPr>
              <a:t>TerminologÃ­a</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InformÃ¡tica</a:t>
            </a:r>
            <a:r>
              <a:rPr lang="es-MX" sz="1800" dirty="0">
                <a:effectLst/>
                <a:latin typeface="Times New Roman" panose="02020603050405020304" pitchFamily="18" charset="0"/>
              </a:rPr>
              <a:t>. Recuperado 1 de noviembre de 2022, de </a:t>
            </a:r>
            <a:r>
              <a:rPr lang="es-MX" sz="1800" dirty="0">
                <a:effectLst/>
                <a:latin typeface="Times New Roman" panose="02020603050405020304" pitchFamily="18" charset="0"/>
                <a:hlinkClick r:id="rId2"/>
              </a:rPr>
              <a:t>http://www.tugurium.com/gti/termino.php?Tr=Wirth,+Niklaus</a:t>
            </a:r>
            <a:endParaRPr lang="es-MX" sz="1800" dirty="0">
              <a:effectLst/>
              <a:latin typeface="Times New Roman" panose="02020603050405020304" pitchFamily="18" charset="0"/>
            </a:endParaRPr>
          </a:p>
          <a:p>
            <a:r>
              <a:rPr lang="es-US" sz="1800" dirty="0" err="1">
                <a:effectLst/>
                <a:latin typeface="Times New Roman" panose="02020603050405020304" pitchFamily="18" charset="0"/>
              </a:rPr>
              <a:t>Sulbaran</a:t>
            </a:r>
            <a:r>
              <a:rPr lang="es-US" sz="1800" dirty="0">
                <a:effectLst/>
                <a:latin typeface="Times New Roman" panose="02020603050405020304" pitchFamily="18" charset="0"/>
              </a:rPr>
              <a:t>, H. (s. f.). </a:t>
            </a:r>
            <a:r>
              <a:rPr lang="es-US" sz="1800" i="1" dirty="0">
                <a:effectLst/>
                <a:latin typeface="Times New Roman" panose="02020603050405020304" pitchFamily="18" charset="0"/>
              </a:rPr>
              <a:t>09 de septiembre (1941) nace Dennis Ritchie. El padre del Lenguaje C</a:t>
            </a:r>
            <a:r>
              <a:rPr lang="es-US" sz="1800" dirty="0">
                <a:effectLst/>
                <a:latin typeface="Times New Roman" panose="02020603050405020304" pitchFamily="18" charset="0"/>
              </a:rPr>
              <a:t>. Recuperado 1 de noviembre de 2022, de </a:t>
            </a:r>
            <a:r>
              <a:rPr lang="es-US" sz="1800" dirty="0">
                <a:effectLst/>
                <a:latin typeface="Times New Roman" panose="02020603050405020304" pitchFamily="18" charset="0"/>
                <a:hlinkClick r:id="rId3"/>
              </a:rPr>
              <a:t>https://helisulbaran.blogspot.com/2014/09/09-de-septiembre-1941-nace-dennis.html</a:t>
            </a:r>
            <a:endParaRPr lang="es-US" sz="1800" dirty="0">
              <a:effectLst/>
              <a:latin typeface="Times New Roman" panose="02020603050405020304" pitchFamily="18" charset="0"/>
            </a:endParaRPr>
          </a:p>
          <a:p>
            <a:r>
              <a:rPr lang="es-US" sz="1800" dirty="0" err="1">
                <a:effectLst/>
                <a:latin typeface="Times New Roman" panose="02020603050405020304" pitchFamily="18" charset="0"/>
              </a:rPr>
              <a:t>Sulbaran</a:t>
            </a:r>
            <a:r>
              <a:rPr lang="es-US" sz="1800" dirty="0">
                <a:effectLst/>
                <a:latin typeface="Times New Roman" panose="02020603050405020304" pitchFamily="18" charset="0"/>
              </a:rPr>
              <a:t>, H. (s. f.-b). </a:t>
            </a:r>
            <a:r>
              <a:rPr lang="es-US" sz="1800" i="1" dirty="0">
                <a:effectLst/>
                <a:latin typeface="Times New Roman" panose="02020603050405020304" pitchFamily="18" charset="0"/>
              </a:rPr>
              <a:t>30 de diciembre (1950) nace </a:t>
            </a:r>
            <a:r>
              <a:rPr lang="es-US" sz="1800" i="1" dirty="0" err="1">
                <a:effectLst/>
                <a:latin typeface="Times New Roman" panose="02020603050405020304" pitchFamily="18" charset="0"/>
              </a:rPr>
              <a:t>Bjame</a:t>
            </a:r>
            <a:r>
              <a:rPr lang="es-US" sz="1800" i="1" dirty="0">
                <a:effectLst/>
                <a:latin typeface="Times New Roman" panose="02020603050405020304" pitchFamily="18" charset="0"/>
              </a:rPr>
              <a:t> Stroustrup. El padre del lenguaje C++</a:t>
            </a:r>
            <a:r>
              <a:rPr lang="es-US" sz="1800" dirty="0">
                <a:effectLst/>
                <a:latin typeface="Times New Roman" panose="02020603050405020304" pitchFamily="18" charset="0"/>
              </a:rPr>
              <a:t>. Recuperado 1 de noviembre de 2022, de </a:t>
            </a:r>
            <a:r>
              <a:rPr lang="es-US" sz="1800" dirty="0">
                <a:effectLst/>
                <a:latin typeface="Times New Roman" panose="02020603050405020304" pitchFamily="18" charset="0"/>
                <a:hlinkClick r:id="rId4"/>
              </a:rPr>
              <a:t>https://helisulbaran.blogspot.com/2015/12/30-de-diciembre-1950-nace-bjame.html</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El lenguaje C++ — Fundamentos de Programación en C++</a:t>
            </a:r>
            <a:r>
              <a:rPr lang="es-US" sz="1800" dirty="0">
                <a:effectLst/>
                <a:latin typeface="Times New Roman" panose="02020603050405020304" pitchFamily="18" charset="0"/>
              </a:rPr>
              <a:t>. (s. f.). Recuperado 1 de noviembre de 2022, de </a:t>
            </a:r>
            <a:r>
              <a:rPr lang="es-US" sz="1800" dirty="0">
                <a:effectLst/>
                <a:latin typeface="Times New Roman" panose="02020603050405020304" pitchFamily="18" charset="0"/>
                <a:hlinkClick r:id="rId5"/>
              </a:rPr>
              <a:t>https://www2.eii.uva.es/fund_inf/cpp/temas/1_introduccion/introduccion.html</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Introducción general a HTML y CSS. Desarrollo de Aplicaciones Web. Rafael Menéndez-</a:t>
            </a:r>
            <a:r>
              <a:rPr lang="es-US" sz="1800" i="1" dirty="0" err="1">
                <a:effectLst/>
                <a:latin typeface="Times New Roman" panose="02020603050405020304" pitchFamily="18" charset="0"/>
              </a:rPr>
              <a:t>Barzanallana</a:t>
            </a:r>
            <a:r>
              <a:rPr lang="es-US" sz="1800" i="1" dirty="0">
                <a:effectLst/>
                <a:latin typeface="Times New Roman" panose="02020603050405020304" pitchFamily="18" charset="0"/>
              </a:rPr>
              <a:t> Asensio. Universidad de Murcia (DIS)</a:t>
            </a:r>
            <a:r>
              <a:rPr lang="es-US" sz="1800" dirty="0">
                <a:effectLst/>
                <a:latin typeface="Times New Roman" panose="02020603050405020304" pitchFamily="18" charset="0"/>
              </a:rPr>
              <a:t>. (s. f.). Recuperado 1 de noviembre de 2022, de </a:t>
            </a:r>
            <a:r>
              <a:rPr lang="es-US" sz="1800" dirty="0">
                <a:effectLst/>
                <a:latin typeface="Times New Roman" panose="02020603050405020304" pitchFamily="18" charset="0"/>
                <a:hlinkClick r:id="rId6"/>
              </a:rPr>
              <a:t>https://www.um.es/docencia/barzana/DAWEB/Introduccion-a-html-y-css.html</a:t>
            </a:r>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4152837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58F743A-7321-B30B-08CB-29619156E055}"/>
              </a:ext>
            </a:extLst>
          </p:cNvPr>
          <p:cNvSpPr>
            <a:spLocks noGrp="1"/>
          </p:cNvSpPr>
          <p:nvPr>
            <p:ph idx="1"/>
          </p:nvPr>
        </p:nvSpPr>
        <p:spPr>
          <a:xfrm>
            <a:off x="1587710" y="491319"/>
            <a:ext cx="9486690" cy="5594849"/>
          </a:xfrm>
        </p:spPr>
        <p:txBody>
          <a:bodyPr/>
          <a:lstStyle/>
          <a:p>
            <a:r>
              <a:rPr lang="es-US" sz="1800" dirty="0" err="1">
                <a:effectLst/>
                <a:latin typeface="Times New Roman" panose="02020603050405020304" pitchFamily="18" charset="0"/>
              </a:rPr>
              <a:t>Valdeolmillos</a:t>
            </a:r>
            <a:r>
              <a:rPr lang="es-US" sz="1800" dirty="0">
                <a:effectLst/>
                <a:latin typeface="Times New Roman" panose="02020603050405020304" pitchFamily="18" charset="0"/>
              </a:rPr>
              <a:t>, C. (2020, 13 noviembre). </a:t>
            </a:r>
            <a:r>
              <a:rPr lang="es-US" sz="1800" i="1" dirty="0">
                <a:effectLst/>
                <a:latin typeface="Times New Roman" panose="02020603050405020304" pitchFamily="18" charset="0"/>
              </a:rPr>
              <a:t>El creador de Python deja su jubilación porque se aburre y entra a trabajar en Microsoft</a:t>
            </a:r>
            <a:r>
              <a:rPr lang="es-US" sz="1800" dirty="0">
                <a:effectLst/>
                <a:latin typeface="Times New Roman" panose="02020603050405020304" pitchFamily="18" charset="0"/>
              </a:rPr>
              <a:t>. </a:t>
            </a:r>
            <a:r>
              <a:rPr lang="es-US" sz="1800" dirty="0" err="1">
                <a:effectLst/>
                <a:latin typeface="Times New Roman" panose="02020603050405020304" pitchFamily="18" charset="0"/>
              </a:rPr>
              <a:t>MuyComputerPRO</a:t>
            </a:r>
            <a:r>
              <a:rPr lang="es-US" sz="1800" dirty="0">
                <a:effectLst/>
                <a:latin typeface="Times New Roman" panose="02020603050405020304" pitchFamily="18" charset="0"/>
              </a:rPr>
              <a:t>. </a:t>
            </a:r>
            <a:r>
              <a:rPr lang="es-US" sz="1800" dirty="0">
                <a:effectLst/>
                <a:latin typeface="Times New Roman" panose="02020603050405020304" pitchFamily="18" charset="0"/>
                <a:hlinkClick r:id="rId2"/>
              </a:rPr>
              <a:t>https://www.muycomputerpro.com/2020/11/13/creador-python-trabajar-microsoft</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 13 septiembre). </a:t>
            </a:r>
            <a:r>
              <a:rPr lang="es-US" sz="1800" i="1" dirty="0">
                <a:effectLst/>
                <a:latin typeface="Times New Roman" panose="02020603050405020304" pitchFamily="18" charset="0"/>
              </a:rPr>
              <a:t>Visual Basic</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3"/>
              </a:rPr>
              <a:t>https://es.wikipedia.org/wiki/Visual_Basic</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HTML</a:t>
            </a:r>
            <a:r>
              <a:rPr lang="es-US" sz="1800" dirty="0">
                <a:effectLst/>
                <a:latin typeface="Times New Roman" panose="02020603050405020304" pitchFamily="18" charset="0"/>
              </a:rPr>
              <a:t>. (s. f.). Desarrollo Web. Recuperado 1 de noviembre de 2022, de </a:t>
            </a:r>
            <a:r>
              <a:rPr lang="es-US" sz="1800" dirty="0">
                <a:effectLst/>
                <a:latin typeface="Times New Roman" panose="02020603050405020304" pitchFamily="18" charset="0"/>
                <a:hlinkClick r:id="rId4"/>
              </a:rPr>
              <a:t>https://desarrolloweb.com/home/html</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Alan Cooper, el “padre de Visual BASIC”</a:t>
            </a:r>
            <a:r>
              <a:rPr lang="es-US" sz="1800" dirty="0">
                <a:effectLst/>
                <a:latin typeface="Times New Roman" panose="02020603050405020304" pitchFamily="18" charset="0"/>
              </a:rPr>
              <a:t>. (2022, 1 noviembre). El Sur Acapulco </a:t>
            </a:r>
            <a:r>
              <a:rPr lang="es-US" sz="1800" dirty="0" err="1">
                <a:effectLst/>
                <a:latin typeface="Times New Roman" panose="02020603050405020304" pitchFamily="18" charset="0"/>
              </a:rPr>
              <a:t>suracapulco</a:t>
            </a:r>
            <a:r>
              <a:rPr lang="es-US" sz="1800" dirty="0">
                <a:effectLst/>
                <a:latin typeface="Times New Roman" panose="02020603050405020304" pitchFamily="18" charset="0"/>
              </a:rPr>
              <a:t> I Noticias Acapulco Guerrero. </a:t>
            </a:r>
            <a:r>
              <a:rPr lang="es-US" sz="1800" dirty="0">
                <a:effectLst/>
                <a:latin typeface="Times New Roman" panose="02020603050405020304" pitchFamily="18" charset="0"/>
                <a:hlinkClick r:id="rId5"/>
              </a:rPr>
              <a:t>https://suracapulco.mx/alan-cooper-el-padre-de-visual-basic/</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(2022b, octubre 26). </a:t>
            </a:r>
            <a:r>
              <a:rPr lang="es-US" sz="1800" i="1" dirty="0">
                <a:effectLst/>
                <a:latin typeface="Times New Roman" panose="02020603050405020304" pitchFamily="18" charset="0"/>
              </a:rPr>
              <a:t>Java (lenguaje de programación)</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6"/>
              </a:rPr>
              <a:t>https://es.wikipedia.org/wiki/Java_(lenguaje_de_programaci%C3%B3n)</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El lenguaje de programaciÃ</a:t>
            </a:r>
            <a:r>
              <a:rPr lang="es-US" sz="1800" i="1" baseline="30000" dirty="0">
                <a:effectLst/>
                <a:latin typeface="Times New Roman" panose="02020603050405020304" pitchFamily="18" charset="0"/>
              </a:rPr>
              <a:t>3</a:t>
            </a:r>
            <a:r>
              <a:rPr lang="es-US" sz="1800" i="1" dirty="0">
                <a:effectLst/>
                <a:latin typeface="Times New Roman" panose="02020603050405020304" pitchFamily="18" charset="0"/>
              </a:rPr>
              <a:t>n que cambiÃ</a:t>
            </a:r>
            <a:r>
              <a:rPr lang="es-US" sz="1800" i="1" baseline="30000" dirty="0">
                <a:effectLst/>
                <a:latin typeface="Times New Roman" panose="02020603050405020304" pitchFamily="18" charset="0"/>
              </a:rPr>
              <a:t>3</a:t>
            </a:r>
            <a:r>
              <a:rPr lang="es-US" sz="1800" i="1" dirty="0">
                <a:effectLst/>
                <a:latin typeface="Times New Roman" panose="02020603050405020304" pitchFamily="18" charset="0"/>
              </a:rPr>
              <a:t> la web (y tu vida) cumple 25 </a:t>
            </a:r>
            <a:r>
              <a:rPr lang="es-US" sz="1800" i="1" dirty="0" err="1">
                <a:effectLst/>
                <a:latin typeface="Times New Roman" panose="02020603050405020304" pitchFamily="18" charset="0"/>
              </a:rPr>
              <a:t>aÃ±os</a:t>
            </a:r>
            <a:r>
              <a:rPr lang="es-US" sz="1800" dirty="0">
                <a:effectLst/>
                <a:latin typeface="Times New Roman" panose="02020603050405020304" pitchFamily="18" charset="0"/>
              </a:rPr>
              <a:t>. (2020, 29 agosto). El </a:t>
            </a:r>
            <a:r>
              <a:rPr lang="es-US" sz="1800" dirty="0" err="1">
                <a:effectLst/>
                <a:latin typeface="Times New Roman" panose="02020603050405020304" pitchFamily="18" charset="0"/>
              </a:rPr>
              <a:t>PaÃ­s</a:t>
            </a:r>
            <a:r>
              <a:rPr lang="es-US" sz="1800" dirty="0">
                <a:effectLst/>
                <a:latin typeface="Times New Roman" panose="02020603050405020304" pitchFamily="18" charset="0"/>
              </a:rPr>
              <a:t>. </a:t>
            </a:r>
            <a:r>
              <a:rPr lang="es-US" sz="1800" dirty="0">
                <a:effectLst/>
                <a:latin typeface="Times New Roman" panose="02020603050405020304" pitchFamily="18" charset="0"/>
                <a:hlinkClick r:id="rId7"/>
              </a:rPr>
              <a:t>https://elpais.com/tecnologia/2020-08-28/el-lenguaje-de-programacion-que-cambio-la-web-y-tu-vida-cumple-25-anos.html</a:t>
            </a:r>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2280379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C51072D-F6BE-81F3-8865-E0738A7B7FF4}"/>
              </a:ext>
            </a:extLst>
          </p:cNvPr>
          <p:cNvSpPr>
            <a:spLocks noGrp="1"/>
          </p:cNvSpPr>
          <p:nvPr>
            <p:ph idx="1"/>
          </p:nvPr>
        </p:nvSpPr>
        <p:spPr>
          <a:xfrm>
            <a:off x="1587710" y="464024"/>
            <a:ext cx="9486690" cy="5622144"/>
          </a:xfrm>
        </p:spPr>
        <p:txBody>
          <a:bodyPr/>
          <a:lstStyle/>
          <a:p>
            <a:r>
              <a:rPr lang="es-MX" sz="1800" i="1" dirty="0">
                <a:effectLst/>
                <a:latin typeface="Times New Roman" panose="02020603050405020304" pitchFamily="18" charset="0"/>
              </a:rPr>
              <a:t>PHP: Historia de PHP - Manual</a:t>
            </a:r>
            <a:r>
              <a:rPr lang="es-MX" sz="1800" dirty="0">
                <a:effectLst/>
                <a:latin typeface="Times New Roman" panose="02020603050405020304" pitchFamily="18" charset="0"/>
              </a:rPr>
              <a:t>. (s. f.). Recuperado 1 de noviembre de 2022, de </a:t>
            </a:r>
            <a:r>
              <a:rPr lang="es-MX" sz="1800" dirty="0">
                <a:effectLst/>
                <a:latin typeface="Times New Roman" panose="02020603050405020304" pitchFamily="18" charset="0"/>
                <a:hlinkClick r:id="rId2"/>
              </a:rPr>
              <a:t>https://www.php.net/manual/es/history.php.php</a:t>
            </a:r>
            <a:endParaRPr lang="es-MX" sz="1800" dirty="0">
              <a:effectLst/>
              <a:latin typeface="Times New Roman" panose="02020603050405020304" pitchFamily="18" charset="0"/>
            </a:endParaRPr>
          </a:p>
          <a:p>
            <a:r>
              <a:rPr lang="es-US" sz="1800" dirty="0">
                <a:effectLst/>
                <a:latin typeface="Times New Roman" panose="02020603050405020304" pitchFamily="18" charset="0"/>
              </a:rPr>
              <a:t>https:\/\/1000marcas.net\/</a:t>
            </a:r>
            <a:r>
              <a:rPr lang="es-US" sz="1800" dirty="0" err="1">
                <a:effectLst/>
                <a:latin typeface="Times New Roman" panose="02020603050405020304" pitchFamily="18" charset="0"/>
              </a:rPr>
              <a:t>author</a:t>
            </a:r>
            <a:r>
              <a:rPr lang="es-US" sz="1800" dirty="0">
                <a:effectLst/>
                <a:latin typeface="Times New Roman" panose="02020603050405020304" pitchFamily="18" charset="0"/>
              </a:rPr>
              <a:t>\/</a:t>
            </a:r>
            <a:r>
              <a:rPr lang="es-US" sz="1800" dirty="0" err="1">
                <a:effectLst/>
                <a:latin typeface="Times New Roman" panose="02020603050405020304" pitchFamily="18" charset="0"/>
              </a:rPr>
              <a:t>admin</a:t>
            </a:r>
            <a:r>
              <a:rPr lang="es-US" sz="1800" dirty="0">
                <a:effectLst/>
                <a:latin typeface="Times New Roman" panose="02020603050405020304" pitchFamily="18" charset="0"/>
              </a:rPr>
              <a:t>\/#author. (2020, 20 diciembre). </a:t>
            </a:r>
            <a:r>
              <a:rPr lang="es-US" sz="1800" i="1" dirty="0">
                <a:effectLst/>
                <a:latin typeface="Times New Roman" panose="02020603050405020304" pitchFamily="18" charset="0"/>
              </a:rPr>
              <a:t>Logo de Java: la historia y el significado del logotipo, la marca y el símbolo. | png, vector</a:t>
            </a:r>
            <a:r>
              <a:rPr lang="es-US" sz="1800" dirty="0">
                <a:effectLst/>
                <a:latin typeface="Times New Roman" panose="02020603050405020304" pitchFamily="18" charset="0"/>
              </a:rPr>
              <a:t>. </a:t>
            </a:r>
            <a:r>
              <a:rPr lang="es-US" sz="1800" dirty="0">
                <a:effectLst/>
                <a:latin typeface="Times New Roman" panose="02020603050405020304" pitchFamily="18" charset="0"/>
                <a:hlinkClick r:id="rId3"/>
              </a:rPr>
              <a:t>https://1000marcas.net/java-logo/</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Fundamentos de JavaScript - Aprende sobre desarrollo web | MDN</a:t>
            </a:r>
            <a:r>
              <a:rPr lang="es-US" sz="1800" dirty="0">
                <a:effectLst/>
                <a:latin typeface="Times New Roman" panose="02020603050405020304" pitchFamily="18" charset="0"/>
              </a:rPr>
              <a:t>. (2022, 31 octubre). </a:t>
            </a:r>
            <a:r>
              <a:rPr lang="es-US" sz="1800" dirty="0">
                <a:effectLst/>
                <a:latin typeface="Times New Roman" panose="02020603050405020304" pitchFamily="18" charset="0"/>
                <a:hlinkClick r:id="rId4"/>
              </a:rPr>
              <a:t>https://developer.mozilla.org/es/docs/Learn/Getting_started_with_the_web/JavaScript_basics</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 25 octubre). </a:t>
            </a:r>
            <a:r>
              <a:rPr lang="es-US" sz="1800" i="1" dirty="0">
                <a:effectLst/>
                <a:latin typeface="Times New Roman" panose="02020603050405020304" pitchFamily="18" charset="0"/>
              </a:rPr>
              <a:t>C Sharp</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5"/>
              </a:rPr>
              <a:t>https://es.wikipedia.org/wiki/C_Sharp</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Un paseo por C#: información general</a:t>
            </a:r>
            <a:r>
              <a:rPr lang="es-US" sz="1800" dirty="0">
                <a:effectLst/>
                <a:latin typeface="Times New Roman" panose="02020603050405020304" pitchFamily="18" charset="0"/>
              </a:rPr>
              <a:t>. (2022, 22 septiembre). Microsoft </a:t>
            </a:r>
            <a:r>
              <a:rPr lang="es-US" sz="1800" dirty="0" err="1">
                <a:effectLst/>
                <a:latin typeface="Times New Roman" panose="02020603050405020304" pitchFamily="18" charset="0"/>
              </a:rPr>
              <a:t>Learn</a:t>
            </a:r>
            <a:r>
              <a:rPr lang="es-US" sz="1800" dirty="0">
                <a:effectLst/>
                <a:latin typeface="Times New Roman" panose="02020603050405020304" pitchFamily="18" charset="0"/>
              </a:rPr>
              <a:t>. </a:t>
            </a:r>
            <a:r>
              <a:rPr lang="es-US" sz="1800" dirty="0">
                <a:effectLst/>
                <a:latin typeface="Times New Roman" panose="02020603050405020304" pitchFamily="18" charset="0"/>
                <a:hlinkClick r:id="rId6"/>
              </a:rPr>
              <a:t>https://learn.microsoft.com/es-es/dotnet/csharp/tour-of-csharp/</a:t>
            </a:r>
            <a:endParaRPr lang="es-US" sz="1800" dirty="0">
              <a:effectLst/>
              <a:latin typeface="Times New Roman" panose="02020603050405020304" pitchFamily="18" charset="0"/>
            </a:endParaRPr>
          </a:p>
          <a:p>
            <a:r>
              <a:rPr lang="es-MX" sz="1800" i="1" dirty="0">
                <a:effectLst/>
                <a:latin typeface="Times New Roman" panose="02020603050405020304" pitchFamily="18" charset="0"/>
              </a:rPr>
              <a:t>ISTE</a:t>
            </a:r>
            <a:r>
              <a:rPr lang="es-MX" sz="1800" dirty="0">
                <a:effectLst/>
                <a:latin typeface="Times New Roman" panose="02020603050405020304" pitchFamily="18" charset="0"/>
              </a:rPr>
              <a:t>. (s. f.). Recuperado 1 de noviembre de 2022, de </a:t>
            </a:r>
            <a:r>
              <a:rPr lang="es-MX" sz="1800" dirty="0">
                <a:effectLst/>
                <a:latin typeface="Times New Roman" panose="02020603050405020304" pitchFamily="18" charset="0"/>
                <a:hlinkClick r:id="rId7"/>
              </a:rPr>
              <a:t>https://www.iste.org/es/explore/Empowered-Learner/Mitchel-Resnick:-Scratch-creator,-professor-is-an-expert-on-helping-student-creativity-flourish</a:t>
            </a:r>
            <a:endParaRPr lang="es-MX"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1171221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CA40E38-DF9F-17B9-191C-8883A4BBE3B4}"/>
              </a:ext>
            </a:extLst>
          </p:cNvPr>
          <p:cNvSpPr>
            <a:spLocks noGrp="1"/>
          </p:cNvSpPr>
          <p:nvPr>
            <p:ph idx="1"/>
          </p:nvPr>
        </p:nvSpPr>
        <p:spPr>
          <a:xfrm>
            <a:off x="1587710" y="627797"/>
            <a:ext cx="9486690" cy="5458371"/>
          </a:xfrm>
        </p:spPr>
        <p:txBody>
          <a:bodyPr/>
          <a:lstStyle/>
          <a:p>
            <a:r>
              <a:rPr lang="es-US" sz="1800" dirty="0">
                <a:effectLst/>
                <a:latin typeface="Times New Roman" panose="02020603050405020304" pitchFamily="18" charset="0"/>
              </a:rPr>
              <a:t>colaboradores de Wikipedia. (2022a, octubre 14). </a:t>
            </a:r>
            <a:r>
              <a:rPr lang="es-US" sz="1800" i="1" dirty="0" err="1">
                <a:effectLst/>
                <a:latin typeface="Times New Roman" panose="02020603050405020304" pitchFamily="18" charset="0"/>
              </a:rPr>
              <a:t>Go</a:t>
            </a:r>
            <a:r>
              <a:rPr lang="es-US" sz="1800" i="1" dirty="0">
                <a:effectLst/>
                <a:latin typeface="Times New Roman" panose="02020603050405020304" pitchFamily="18" charset="0"/>
              </a:rPr>
              <a:t> (lenguaje de programación)</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2"/>
              </a:rPr>
              <a:t>https://es.wikipedia.org/wiki/Go_(lenguaje_de_programaci%C3%B3n)</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El lenguaje de programación </a:t>
            </a:r>
            <a:r>
              <a:rPr lang="es-US" sz="1800" i="1" dirty="0" err="1">
                <a:effectLst/>
                <a:latin typeface="Times New Roman" panose="02020603050405020304" pitchFamily="18" charset="0"/>
              </a:rPr>
              <a:t>Go</a:t>
            </a:r>
            <a:r>
              <a:rPr lang="es-US" sz="1800" i="1" dirty="0">
                <a:effectLst/>
                <a:latin typeface="Times New Roman" panose="02020603050405020304" pitchFamily="18" charset="0"/>
              </a:rPr>
              <a:t> de Google es el que quieren aprender los desarrolladores en 2019</a:t>
            </a:r>
            <a:r>
              <a:rPr lang="es-US" sz="1800" dirty="0">
                <a:effectLst/>
                <a:latin typeface="Times New Roman" panose="02020603050405020304" pitchFamily="18" charset="0"/>
              </a:rPr>
              <a:t>. (s. f.). Recuperado 1 de noviembre de 2022, de </a:t>
            </a:r>
            <a:r>
              <a:rPr lang="es-US" sz="1800" dirty="0">
                <a:effectLst/>
                <a:latin typeface="Times New Roman" panose="02020603050405020304" pitchFamily="18" charset="0"/>
                <a:hlinkClick r:id="rId3"/>
              </a:rPr>
              <a:t>https://blog.hostalia.com/informes/lenguaje-programacion-go-google-quieren-aprender-desarrolladores-2019/</a:t>
            </a:r>
            <a:endParaRPr lang="es-US" sz="1800" dirty="0">
              <a:effectLst/>
              <a:latin typeface="Times New Roman" panose="02020603050405020304" pitchFamily="18" charset="0"/>
            </a:endParaRPr>
          </a:p>
          <a:p>
            <a:r>
              <a:rPr lang="es-MX" sz="1800" i="1" dirty="0">
                <a:effectLst/>
                <a:latin typeface="Times New Roman" panose="02020603050405020304" pitchFamily="18" charset="0"/>
              </a:rPr>
              <a:t>Tu primer programa en </a:t>
            </a:r>
            <a:r>
              <a:rPr lang="es-MX" sz="1800" i="1" dirty="0" err="1">
                <a:effectLst/>
                <a:latin typeface="Times New Roman" panose="02020603050405020304" pitchFamily="18" charset="0"/>
              </a:rPr>
              <a:t>Kotlin</a:t>
            </a:r>
            <a:r>
              <a:rPr lang="es-MX" sz="1800" i="1" dirty="0">
                <a:effectLst/>
                <a:latin typeface="Times New Roman" panose="02020603050405020304" pitchFamily="18" charset="0"/>
              </a:rPr>
              <a:t>  |</a:t>
            </a:r>
            <a:r>
              <a:rPr lang="es-MX" sz="1800" dirty="0">
                <a:effectLst/>
                <a:latin typeface="Times New Roman" panose="02020603050405020304" pitchFamily="18" charset="0"/>
              </a:rPr>
              <a:t>. (s. f.). Android </a:t>
            </a:r>
            <a:r>
              <a:rPr lang="es-MX" sz="1800" dirty="0" err="1">
                <a:effectLst/>
                <a:latin typeface="Times New Roman" panose="02020603050405020304" pitchFamily="18" charset="0"/>
              </a:rPr>
              <a:t>Developers</a:t>
            </a:r>
            <a:r>
              <a:rPr lang="es-MX" sz="1800" dirty="0">
                <a:effectLst/>
                <a:latin typeface="Times New Roman" panose="02020603050405020304" pitchFamily="18" charset="0"/>
              </a:rPr>
              <a:t>. Recuperado 1 de noviembre de 2022, de </a:t>
            </a:r>
            <a:r>
              <a:rPr lang="es-MX" sz="1800" dirty="0">
                <a:effectLst/>
                <a:latin typeface="Times New Roman" panose="02020603050405020304" pitchFamily="18" charset="0"/>
                <a:hlinkClick r:id="rId4"/>
              </a:rPr>
              <a:t>https://developer.android.com/codelabs/basic-android-kotlin-compose-first-program?hl=es-419</a:t>
            </a:r>
            <a:endParaRPr lang="es-MX" sz="1800" dirty="0">
              <a:effectLst/>
              <a:latin typeface="Times New Roman" panose="02020603050405020304" pitchFamily="18" charset="0"/>
            </a:endParaRPr>
          </a:p>
          <a:p>
            <a:r>
              <a:rPr lang="es-MX" sz="1800" dirty="0">
                <a:effectLst/>
                <a:latin typeface="Times New Roman" panose="02020603050405020304" pitchFamily="18" charset="0"/>
              </a:rPr>
              <a:t>Apple. (s. f.). </a:t>
            </a:r>
            <a:r>
              <a:rPr lang="es-MX" sz="1800" i="1" dirty="0">
                <a:effectLst/>
                <a:latin typeface="Times New Roman" panose="02020603050405020304" pitchFamily="18" charset="0"/>
              </a:rPr>
              <a:t>Swift - Apple (MX)</a:t>
            </a:r>
            <a:r>
              <a:rPr lang="es-MX" sz="1800" dirty="0">
                <a:effectLst/>
                <a:latin typeface="Times New Roman" panose="02020603050405020304" pitchFamily="18" charset="0"/>
              </a:rPr>
              <a:t>. Recuperado 1 de noviembre de 2022, de </a:t>
            </a:r>
            <a:r>
              <a:rPr lang="es-MX" sz="1800" dirty="0">
                <a:effectLst/>
                <a:latin typeface="Times New Roman" panose="02020603050405020304" pitchFamily="18" charset="0"/>
                <a:hlinkClick r:id="rId5"/>
              </a:rPr>
              <a:t>https://www.apple.com/mx/swift/</a:t>
            </a:r>
            <a:endParaRPr lang="es-MX" sz="1800" dirty="0">
              <a:effectLst/>
              <a:latin typeface="Times New Roman" panose="02020603050405020304" pitchFamily="18" charset="0"/>
            </a:endParaRPr>
          </a:p>
          <a:p>
            <a:r>
              <a:rPr lang="es-US" sz="1800" i="1" dirty="0">
                <a:effectLst/>
                <a:latin typeface="Times New Roman" panose="02020603050405020304" pitchFamily="18" charset="0"/>
              </a:rPr>
              <a:t>Lenguaje de Programación Ruby</a:t>
            </a:r>
            <a:r>
              <a:rPr lang="es-US" sz="1800" dirty="0">
                <a:effectLst/>
                <a:latin typeface="Times New Roman" panose="02020603050405020304" pitchFamily="18" charset="0"/>
              </a:rPr>
              <a:t>. (s. f.). Recuperado 1 de noviembre de 2022, de </a:t>
            </a:r>
            <a:r>
              <a:rPr lang="es-US" sz="1800" dirty="0">
                <a:effectLst/>
                <a:latin typeface="Times New Roman" panose="02020603050405020304" pitchFamily="18" charset="0"/>
                <a:hlinkClick r:id="rId6"/>
              </a:rPr>
              <a:t>https://www.ruby-lang.org/es/</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(2021, 16 junio). </a:t>
            </a:r>
            <a:r>
              <a:rPr lang="es-US" sz="1800" i="1" dirty="0" err="1">
                <a:effectLst/>
                <a:latin typeface="Times New Roman" panose="02020603050405020304" pitchFamily="18" charset="0"/>
              </a:rPr>
              <a:t>Yukihiro</a:t>
            </a:r>
            <a:r>
              <a:rPr lang="es-US" sz="1800" i="1" dirty="0">
                <a:effectLst/>
                <a:latin typeface="Times New Roman" panose="02020603050405020304" pitchFamily="18" charset="0"/>
              </a:rPr>
              <a:t> Matsumoto</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7"/>
              </a:rPr>
              <a:t>https://es.wikipedia.org/wiki/Yukihiro_Matsumoto</a:t>
            </a:r>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1161248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982560-2927-D9A5-DC71-0B77BE75F9C2}"/>
              </a:ext>
            </a:extLst>
          </p:cNvPr>
          <p:cNvSpPr>
            <a:spLocks noGrp="1"/>
          </p:cNvSpPr>
          <p:nvPr>
            <p:ph idx="1"/>
          </p:nvPr>
        </p:nvSpPr>
        <p:spPr>
          <a:xfrm>
            <a:off x="1587710" y="641445"/>
            <a:ext cx="9486690" cy="5444723"/>
          </a:xfrm>
        </p:spPr>
        <p:txBody>
          <a:bodyPr/>
          <a:lstStyle/>
          <a:p>
            <a:r>
              <a:rPr lang="es-US" sz="1800" dirty="0">
                <a:effectLst/>
                <a:latin typeface="Times New Roman" panose="02020603050405020304" pitchFamily="18" charset="0"/>
              </a:rPr>
              <a:t>colaboradores de Wikipedia. (2022b, octubre 19). </a:t>
            </a:r>
            <a:r>
              <a:rPr lang="es-US" sz="1800" i="1" dirty="0">
                <a:effectLst/>
                <a:latin typeface="Times New Roman" panose="02020603050405020304" pitchFamily="18" charset="0"/>
              </a:rPr>
              <a:t>SQL</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2"/>
              </a:rPr>
              <a:t>https://es.wikipedia.org/wiki/SQL</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(2022c, octubre 23). </a:t>
            </a:r>
            <a:r>
              <a:rPr lang="es-US" sz="1800" i="1" dirty="0">
                <a:effectLst/>
                <a:latin typeface="Times New Roman" panose="02020603050405020304" pitchFamily="18" charset="0"/>
              </a:rPr>
              <a:t>Perl</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3"/>
              </a:rPr>
              <a:t>https://es.wikipedia.org/wiki/Perl</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(2022a, octubre 3). </a:t>
            </a:r>
            <a:r>
              <a:rPr lang="es-US" sz="1800" i="1" dirty="0">
                <a:effectLst/>
                <a:latin typeface="Times New Roman" panose="02020603050405020304" pitchFamily="18" charset="0"/>
              </a:rPr>
              <a:t>R (lenguaje de programación)</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4"/>
              </a:rPr>
              <a:t>https://es.wikipedia.org/wiki/R_(lenguaje_de_programaci%C3%B3n)</a:t>
            </a:r>
            <a:endParaRPr lang="es-US" sz="1800" dirty="0">
              <a:effectLst/>
              <a:latin typeface="Times New Roman" panose="02020603050405020304" pitchFamily="18" charset="0"/>
            </a:endParaRPr>
          </a:p>
          <a:p>
            <a:r>
              <a:rPr lang="es-MX" sz="1800" i="1" dirty="0">
                <a:effectLst/>
                <a:latin typeface="Times New Roman" panose="02020603050405020304" pitchFamily="18" charset="0"/>
              </a:rPr>
              <a:t>Qué es </a:t>
            </a:r>
            <a:r>
              <a:rPr lang="es-MX" sz="1800" i="1" dirty="0" err="1">
                <a:effectLst/>
                <a:latin typeface="Times New Roman" panose="02020603050405020304" pitchFamily="18" charset="0"/>
              </a:rPr>
              <a:t>TypeScript</a:t>
            </a:r>
            <a:r>
              <a:rPr lang="es-MX" sz="1800" dirty="0">
                <a:effectLst/>
                <a:latin typeface="Times New Roman" panose="02020603050405020304" pitchFamily="18" charset="0"/>
              </a:rPr>
              <a:t>. (s. f.). </a:t>
            </a:r>
            <a:r>
              <a:rPr lang="es-MX" sz="1800" dirty="0" err="1">
                <a:effectLst/>
                <a:latin typeface="Times New Roman" panose="02020603050405020304" pitchFamily="18" charset="0"/>
              </a:rPr>
              <a:t>CódigoFacilito</a:t>
            </a:r>
            <a:r>
              <a:rPr lang="es-MX" sz="1800" dirty="0">
                <a:effectLst/>
                <a:latin typeface="Times New Roman" panose="02020603050405020304" pitchFamily="18" charset="0"/>
              </a:rPr>
              <a:t>. Recuperado 1 de noviembre de 2022, de </a:t>
            </a:r>
            <a:r>
              <a:rPr lang="es-MX" sz="1800" dirty="0">
                <a:effectLst/>
                <a:latin typeface="Times New Roman" panose="02020603050405020304" pitchFamily="18" charset="0"/>
                <a:hlinkClick r:id="rId5"/>
              </a:rPr>
              <a:t>https://codigofacilito.com/articulos/typescript</a:t>
            </a:r>
            <a:endParaRPr lang="es-MX" sz="1800" dirty="0">
              <a:effectLst/>
              <a:latin typeface="Times New Roman" panose="02020603050405020304" pitchFamily="18" charset="0"/>
            </a:endParaRPr>
          </a:p>
          <a:p>
            <a:r>
              <a:rPr lang="es-MX" sz="1800" i="1" dirty="0">
                <a:effectLst/>
                <a:latin typeface="Times New Roman" panose="02020603050405020304" pitchFamily="18" charset="0"/>
              </a:rPr>
              <a:t>Steve </a:t>
            </a:r>
            <a:r>
              <a:rPr lang="es-MX" sz="1800" i="1" dirty="0" err="1">
                <a:effectLst/>
                <a:latin typeface="Times New Roman" panose="02020603050405020304" pitchFamily="18" charset="0"/>
              </a:rPr>
              <a:t>Lucco</a:t>
            </a:r>
            <a:r>
              <a:rPr lang="es-MX" sz="1800" i="1" dirty="0">
                <a:effectLst/>
                <a:latin typeface="Times New Roman" panose="02020603050405020304" pitchFamily="18" charset="0"/>
              </a:rPr>
              <a:t> - </a:t>
            </a:r>
            <a:r>
              <a:rPr lang="es-MX" sz="1800" i="1" dirty="0" err="1">
                <a:effectLst/>
                <a:latin typeface="Times New Roman" panose="02020603050405020304" pitchFamily="18" charset="0"/>
              </a:rPr>
              <a:t>Chief</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Scientist</a:t>
            </a:r>
            <a:r>
              <a:rPr lang="es-MX" sz="1800" i="1" dirty="0">
                <a:effectLst/>
                <a:latin typeface="Times New Roman" panose="02020603050405020304" pitchFamily="18" charset="0"/>
              </a:rPr>
              <a:t> at </a:t>
            </a:r>
            <a:r>
              <a:rPr lang="es-MX" sz="1800" i="1" dirty="0" err="1">
                <a:effectLst/>
                <a:latin typeface="Times New Roman" panose="02020603050405020304" pitchFamily="18" charset="0"/>
              </a:rPr>
              <a:t>Highspot</a:t>
            </a:r>
            <a:r>
              <a:rPr lang="es-MX" sz="1800" i="1" dirty="0">
                <a:effectLst/>
                <a:latin typeface="Times New Roman" panose="02020603050405020304" pitchFamily="18" charset="0"/>
              </a:rPr>
              <a:t> | </a:t>
            </a:r>
            <a:r>
              <a:rPr lang="es-MX" sz="1800" i="1" dirty="0" err="1">
                <a:effectLst/>
                <a:latin typeface="Times New Roman" panose="02020603050405020304" pitchFamily="18" charset="0"/>
              </a:rPr>
              <a:t>The</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Org</a:t>
            </a:r>
            <a:r>
              <a:rPr lang="es-MX" sz="1800" dirty="0">
                <a:effectLst/>
                <a:latin typeface="Times New Roman" panose="02020603050405020304" pitchFamily="18" charset="0"/>
              </a:rPr>
              <a:t>. (s. f.). THE ORG. Recuperado 1 de noviembre de 2022, de </a:t>
            </a:r>
            <a:r>
              <a:rPr lang="es-MX" sz="1800" dirty="0">
                <a:effectLst/>
                <a:latin typeface="Times New Roman" panose="02020603050405020304" pitchFamily="18" charset="0"/>
                <a:hlinkClick r:id="rId6"/>
              </a:rPr>
              <a:t>https://theorg.com/org/highspot/org-chart/steve-lucco</a:t>
            </a:r>
            <a:endParaRPr lang="es-MX" sz="1800" dirty="0">
              <a:effectLst/>
              <a:latin typeface="Times New Roman" panose="02020603050405020304" pitchFamily="18" charset="0"/>
            </a:endParaRPr>
          </a:p>
          <a:p>
            <a:r>
              <a:rPr lang="es-MX" sz="1800" i="1" dirty="0" err="1">
                <a:effectLst/>
                <a:latin typeface="Times New Roman" panose="02020603050405020304" pitchFamily="18" charset="0"/>
              </a:rPr>
              <a:t>Â¡Descubre</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Rust</a:t>
            </a:r>
            <a:r>
              <a:rPr lang="es-MX" sz="1800" i="1" dirty="0">
                <a:effectLst/>
                <a:latin typeface="Times New Roman" panose="02020603050405020304" pitchFamily="18" charset="0"/>
              </a:rPr>
              <a:t>! El lenguaje de programaciÃ</a:t>
            </a:r>
            <a:r>
              <a:rPr lang="es-MX" sz="1800" i="1" baseline="30000" dirty="0">
                <a:effectLst/>
                <a:latin typeface="Times New Roman" panose="02020603050405020304" pitchFamily="18" charset="0"/>
              </a:rPr>
              <a:t>3</a:t>
            </a:r>
            <a:r>
              <a:rPr lang="es-MX" sz="1800" i="1" dirty="0">
                <a:effectLst/>
                <a:latin typeface="Times New Roman" panose="02020603050405020304" pitchFamily="18" charset="0"/>
              </a:rPr>
              <a:t>n que </a:t>
            </a:r>
            <a:r>
              <a:rPr lang="es-MX" sz="1800" i="1" dirty="0" err="1">
                <a:effectLst/>
                <a:latin typeface="Times New Roman" panose="02020603050405020304" pitchFamily="18" charset="0"/>
              </a:rPr>
              <a:t>mÃ¡s</a:t>
            </a:r>
            <a:r>
              <a:rPr lang="es-MX" sz="1800" i="1" dirty="0">
                <a:effectLst/>
                <a:latin typeface="Times New Roman" panose="02020603050405020304" pitchFamily="18" charset="0"/>
              </a:rPr>
              <a:t> ha crecido el </a:t>
            </a:r>
            <a:r>
              <a:rPr lang="es-MX" sz="1800" i="1" dirty="0" err="1">
                <a:effectLst/>
                <a:latin typeface="Times New Roman" panose="02020603050405020304" pitchFamily="18" charset="0"/>
              </a:rPr>
              <a:t>Ã</a:t>
            </a:r>
            <a:r>
              <a:rPr lang="es-MX" sz="1800" i="1" baseline="30000" dirty="0" err="1">
                <a:effectLst/>
                <a:latin typeface="Times New Roman" panose="02020603050405020304" pitchFamily="18" charset="0"/>
              </a:rPr>
              <a:t>o</a:t>
            </a:r>
            <a:r>
              <a:rPr lang="es-MX" sz="1800" i="1" dirty="0" err="1">
                <a:effectLst/>
                <a:latin typeface="Times New Roman" panose="02020603050405020304" pitchFamily="18" charset="0"/>
              </a:rPr>
              <a:t>ltimo</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aÃ±o</a:t>
            </a:r>
            <a:r>
              <a:rPr lang="es-MX" sz="1800" i="1" dirty="0">
                <a:effectLst/>
                <a:latin typeface="Times New Roman" panose="02020603050405020304" pitchFamily="18" charset="0"/>
              </a:rPr>
              <a:t> y que </a:t>
            </a:r>
            <a:r>
              <a:rPr lang="es-MX" sz="1800" i="1" dirty="0" err="1">
                <a:effectLst/>
                <a:latin typeface="Times New Roman" panose="02020603050405020304" pitchFamily="18" charset="0"/>
              </a:rPr>
              <a:t>mÃ¡s</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interÃ©s</a:t>
            </a:r>
            <a:r>
              <a:rPr lang="es-MX" sz="1800" i="1" dirty="0">
                <a:effectLst/>
                <a:latin typeface="Times New Roman" panose="02020603050405020304" pitchFamily="18" charset="0"/>
              </a:rPr>
              <a:t> </a:t>
            </a:r>
            <a:r>
              <a:rPr lang="es-MX" sz="1800" i="1" dirty="0" err="1">
                <a:effectLst/>
                <a:latin typeface="Times New Roman" panose="02020603050405020304" pitchFamily="18" charset="0"/>
              </a:rPr>
              <a:t>estÃ</a:t>
            </a:r>
            <a:r>
              <a:rPr lang="es-MX" sz="1800" i="1" dirty="0">
                <a:effectLst/>
                <a:latin typeface="Times New Roman" panose="02020603050405020304" pitchFamily="18" charset="0"/>
              </a:rPr>
              <a:t>¡ generando</a:t>
            </a:r>
            <a:r>
              <a:rPr lang="es-MX" sz="1800" dirty="0">
                <a:effectLst/>
                <a:latin typeface="Times New Roman" panose="02020603050405020304" pitchFamily="18" charset="0"/>
              </a:rPr>
              <a:t>. (2021, 11 mayo). ITELLIGENT INFORMATION TECHNOLOGIES. </a:t>
            </a:r>
            <a:r>
              <a:rPr lang="es-MX" sz="1800" dirty="0">
                <a:effectLst/>
                <a:latin typeface="Times New Roman" panose="02020603050405020304" pitchFamily="18" charset="0"/>
                <a:hlinkClick r:id="rId7"/>
              </a:rPr>
              <a:t>https://itelligent.es/es/rust-mozilla-microsoft-azure-amazon-aws-facebook/</a:t>
            </a:r>
            <a:endParaRPr lang="es-MX"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1323052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D4743A7-274E-E4DA-42C0-AED9E78FAAD7}"/>
              </a:ext>
            </a:extLst>
          </p:cNvPr>
          <p:cNvSpPr>
            <a:spLocks noGrp="1"/>
          </p:cNvSpPr>
          <p:nvPr>
            <p:ph idx="1"/>
          </p:nvPr>
        </p:nvSpPr>
        <p:spPr>
          <a:xfrm>
            <a:off x="1587710" y="641445"/>
            <a:ext cx="9486690" cy="5444723"/>
          </a:xfrm>
        </p:spPr>
        <p:txBody>
          <a:bodyPr/>
          <a:lstStyle/>
          <a:p>
            <a:r>
              <a:rPr lang="es-US" sz="1800" dirty="0">
                <a:effectLst/>
                <a:latin typeface="Times New Roman" panose="02020603050405020304" pitchFamily="18" charset="0"/>
              </a:rPr>
              <a:t>colaboradores de Wikipedia. (2020, 19 abril). </a:t>
            </a:r>
            <a:r>
              <a:rPr lang="es-US" sz="1800" i="1" dirty="0" err="1">
                <a:effectLst/>
                <a:latin typeface="Times New Roman" panose="02020603050405020304" pitchFamily="18" charset="0"/>
              </a:rPr>
              <a:t>Scheme</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2"/>
              </a:rPr>
              <a:t>https://es.wikipedia.org/wiki/Scheme</a:t>
            </a:r>
            <a:endParaRPr lang="es-US" sz="1800" dirty="0">
              <a:effectLst/>
              <a:latin typeface="Times New Roman" panose="02020603050405020304" pitchFamily="18" charset="0"/>
            </a:endParaRPr>
          </a:p>
          <a:p>
            <a:r>
              <a:rPr lang="es-MX" sz="1800" dirty="0">
                <a:effectLst/>
                <a:latin typeface="Times New Roman" panose="02020603050405020304" pitchFamily="18" charset="0"/>
              </a:rPr>
              <a:t>Wikipedia </a:t>
            </a:r>
            <a:r>
              <a:rPr lang="es-MX" sz="1800" dirty="0" err="1">
                <a:effectLst/>
                <a:latin typeface="Times New Roman" panose="02020603050405020304" pitchFamily="18" charset="0"/>
              </a:rPr>
              <a:t>contributors</a:t>
            </a:r>
            <a:r>
              <a:rPr lang="es-MX" sz="1800" dirty="0">
                <a:effectLst/>
                <a:latin typeface="Times New Roman" panose="02020603050405020304" pitchFamily="18" charset="0"/>
              </a:rPr>
              <a:t>. (2022, 12 junio). </a:t>
            </a:r>
            <a:r>
              <a:rPr lang="es-MX" sz="1800" i="1" dirty="0">
                <a:effectLst/>
                <a:latin typeface="Times New Roman" panose="02020603050405020304" pitchFamily="18" charset="0"/>
              </a:rPr>
              <a:t>Guy L. Steele Jr.</a:t>
            </a:r>
            <a:r>
              <a:rPr lang="es-MX" sz="1800" dirty="0">
                <a:effectLst/>
                <a:latin typeface="Times New Roman" panose="02020603050405020304" pitchFamily="18" charset="0"/>
              </a:rPr>
              <a:t> Wikipedia. </a:t>
            </a:r>
            <a:r>
              <a:rPr lang="es-MX" sz="1800" dirty="0">
                <a:effectLst/>
                <a:latin typeface="Times New Roman" panose="02020603050405020304" pitchFamily="18" charset="0"/>
                <a:hlinkClick r:id="rId3"/>
              </a:rPr>
              <a:t>https://en.wikipedia.org/wiki/Guy_L._Steele_Jr</a:t>
            </a:r>
            <a:r>
              <a:rPr lang="es-MX" sz="1800" dirty="0">
                <a:effectLst/>
                <a:latin typeface="Times New Roman" panose="02020603050405020304" pitchFamily="18" charset="0"/>
              </a:rPr>
              <a:t>.</a:t>
            </a:r>
          </a:p>
          <a:p>
            <a:r>
              <a:rPr lang="es-US" sz="1800" dirty="0">
                <a:effectLst/>
                <a:latin typeface="Times New Roman" panose="02020603050405020304" pitchFamily="18" charset="0"/>
              </a:rPr>
              <a:t>colaboradores de Wikipedia. (2022a, septiembre 16). </a:t>
            </a:r>
            <a:r>
              <a:rPr lang="es-US" sz="1800" i="1" dirty="0" err="1">
                <a:effectLst/>
                <a:latin typeface="Times New Roman" panose="02020603050405020304" pitchFamily="18" charset="0"/>
              </a:rPr>
              <a:t>Erlang</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4"/>
              </a:rPr>
              <a:t>https://es.wikipedia.org/wiki/Erlang</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(2022a, enero 11). </a:t>
            </a:r>
            <a:r>
              <a:rPr lang="es-US" sz="1800" i="1" dirty="0">
                <a:effectLst/>
                <a:latin typeface="Times New Roman" panose="02020603050405020304" pitchFamily="18" charset="0"/>
              </a:rPr>
              <a:t>Elixir (lenguaje de programación)</a:t>
            </a:r>
            <a:r>
              <a:rPr lang="es-US" sz="1800" dirty="0">
                <a:effectLst/>
                <a:latin typeface="Times New Roman" panose="02020603050405020304" pitchFamily="18" charset="0"/>
              </a:rPr>
              <a:t>. Wikipedia, la enciclopedia libre. </a:t>
            </a:r>
            <a:r>
              <a:rPr lang="es-US" sz="1800" dirty="0">
                <a:effectLst/>
                <a:latin typeface="Times New Roman" panose="02020603050405020304" pitchFamily="18" charset="0"/>
                <a:hlinkClick r:id="rId5"/>
              </a:rPr>
              <a:t>https://es.wikipedia.org/wiki/Elixir_(lenguaje_de_programaci%C3%B3n)</a:t>
            </a:r>
            <a:endParaRPr lang="es-US" sz="1800" dirty="0">
              <a:effectLst/>
              <a:latin typeface="Times New Roman" panose="02020603050405020304" pitchFamily="18" charset="0"/>
            </a:endParaRPr>
          </a:p>
          <a:p>
            <a:r>
              <a:rPr lang="es-US" sz="1800" i="1" dirty="0">
                <a:effectLst/>
                <a:latin typeface="Times New Roman" panose="02020603050405020304" pitchFamily="18" charset="0"/>
              </a:rPr>
              <a:t>Introducción</a:t>
            </a:r>
            <a:r>
              <a:rPr lang="es-US" sz="1800" dirty="0">
                <a:effectLst/>
                <a:latin typeface="Times New Roman" panose="02020603050405020304" pitchFamily="18" charset="0"/>
              </a:rPr>
              <a:t>. (s. f.). Scala </a:t>
            </a:r>
            <a:r>
              <a:rPr lang="es-US" sz="1800" dirty="0" err="1">
                <a:effectLst/>
                <a:latin typeface="Times New Roman" panose="02020603050405020304" pitchFamily="18" charset="0"/>
              </a:rPr>
              <a:t>Documentation</a:t>
            </a:r>
            <a:r>
              <a:rPr lang="es-US" sz="1800" dirty="0">
                <a:effectLst/>
                <a:latin typeface="Times New Roman" panose="02020603050405020304" pitchFamily="18" charset="0"/>
              </a:rPr>
              <a:t>. Recuperado 1 de noviembre de 2022, de </a:t>
            </a:r>
            <a:r>
              <a:rPr lang="es-US" sz="1800" dirty="0">
                <a:effectLst/>
                <a:latin typeface="Times New Roman" panose="02020603050405020304" pitchFamily="18" charset="0"/>
                <a:hlinkClick r:id="rId6"/>
              </a:rPr>
              <a:t>https://docs.scala-lang.org/es/tour/tour-of-scala.html</a:t>
            </a:r>
            <a:endParaRPr lang="es-US" sz="1800" dirty="0">
              <a:effectLst/>
              <a:latin typeface="Times New Roman" panose="02020603050405020304" pitchFamily="18" charset="0"/>
            </a:endParaRPr>
          </a:p>
          <a:p>
            <a:r>
              <a:rPr lang="es-US" sz="1800" dirty="0">
                <a:effectLst/>
                <a:latin typeface="Times New Roman" panose="02020603050405020304" pitchFamily="18" charset="0"/>
              </a:rPr>
              <a:t>colaboradores de Wikipedia. (2022c, septiembre 30). </a:t>
            </a:r>
            <a:r>
              <a:rPr lang="es-US" sz="1800" i="1" dirty="0">
                <a:effectLst/>
                <a:latin typeface="Times New Roman" panose="02020603050405020304" pitchFamily="18" charset="0"/>
              </a:rPr>
              <a:t>Embarcadero Delphi</a:t>
            </a:r>
            <a:r>
              <a:rPr lang="es-US" sz="1800" dirty="0">
                <a:effectLst/>
                <a:latin typeface="Times New Roman" panose="02020603050405020304" pitchFamily="18" charset="0"/>
              </a:rPr>
              <a:t>. Wikipedia, la enciclopedia libre. </a:t>
            </a:r>
            <a:r>
              <a:rPr lang="es-US" sz="1800">
                <a:effectLst/>
                <a:latin typeface="Times New Roman" panose="02020603050405020304" pitchFamily="18" charset="0"/>
                <a:hlinkClick r:id="rId7"/>
              </a:rPr>
              <a:t>https://es.wikipedia.org/wiki/Embarcadero_Delphi</a:t>
            </a:r>
            <a:endParaRPr lang="es-US" sz="1800">
              <a:effectLst/>
              <a:latin typeface="Times New Roman" panose="02020603050405020304" pitchFamily="18" charset="0"/>
            </a:endParaRPr>
          </a:p>
          <a:p>
            <a:endParaRPr lang="es-US" sz="180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sz="1800" dirty="0">
              <a:effectLst/>
              <a:latin typeface="Times New Roman" panose="02020603050405020304" pitchFamily="18" charset="0"/>
            </a:endParaRPr>
          </a:p>
          <a:p>
            <a:endParaRPr lang="es-US" sz="1800" dirty="0">
              <a:effectLst/>
              <a:latin typeface="Times New Roman" panose="02020603050405020304" pitchFamily="18" charset="0"/>
            </a:endParaRPr>
          </a:p>
          <a:p>
            <a:endParaRPr lang="es-MX" dirty="0"/>
          </a:p>
        </p:txBody>
      </p:sp>
    </p:spTree>
    <p:extLst>
      <p:ext uri="{BB962C8B-B14F-4D97-AF65-F5344CB8AC3E}">
        <p14:creationId xmlns:p14="http://schemas.microsoft.com/office/powerpoint/2010/main" val="4046913582"/>
      </p:ext>
    </p:extLst>
  </p:cSld>
  <p:clrMapOvr>
    <a:masterClrMapping/>
  </p:clrMapOvr>
</p:sld>
</file>

<file path=ppt/theme/theme1.xml><?xml version="1.0" encoding="utf-8"?>
<a:theme xmlns:a="http://schemas.openxmlformats.org/drawingml/2006/main" name="InterweaveVTI">
  <a:themeElements>
    <a:clrScheme name="AnalogousFromLightSeedRightStep">
      <a:dk1>
        <a:srgbClr val="000000"/>
      </a:dk1>
      <a:lt1>
        <a:srgbClr val="FFFFFF"/>
      </a:lt1>
      <a:dk2>
        <a:srgbClr val="413424"/>
      </a:dk2>
      <a:lt2>
        <a:srgbClr val="E2E8E4"/>
      </a:lt2>
      <a:accent1>
        <a:srgbClr val="EC70C6"/>
      </a:accent1>
      <a:accent2>
        <a:srgbClr val="E8517A"/>
      </a:accent2>
      <a:accent3>
        <a:srgbClr val="EC8270"/>
      </a:accent3>
      <a:accent4>
        <a:srgbClr val="E2912A"/>
      </a:accent4>
      <a:accent5>
        <a:srgbClr val="A8A650"/>
      </a:accent5>
      <a:accent6>
        <a:srgbClr val="83AF3D"/>
      </a:accent6>
      <a:hlink>
        <a:srgbClr val="568E67"/>
      </a:hlink>
      <a:folHlink>
        <a:srgbClr val="7F7F7F"/>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otalTime>261</TotalTime>
  <Words>4533</Words>
  <Application>Microsoft Office PowerPoint</Application>
  <PresentationFormat>Panorámica</PresentationFormat>
  <Paragraphs>213</Paragraphs>
  <Slides>40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40</vt:i4>
      </vt:variant>
    </vt:vector>
  </HeadingPairs>
  <TitlesOfParts>
    <vt:vector size="47" baseType="lpstr">
      <vt:lpstr>Arial</vt:lpstr>
      <vt:lpstr>Bauhaus 93</vt:lpstr>
      <vt:lpstr>Calibri</vt:lpstr>
      <vt:lpstr>Eras Bold ITC</vt:lpstr>
      <vt:lpstr>Neue Haas Grotesk Text Pro</vt:lpstr>
      <vt:lpstr>Times New Roman</vt:lpstr>
      <vt:lpstr>InterweaveVTI</vt:lpstr>
      <vt:lpstr>Línea del Tiempo de los lenguajes de Programación</vt:lpstr>
      <vt:lpstr>El primer lenguaje de programación nació en 1801 (Telar Programable) </vt:lpstr>
      <vt:lpstr>El primer lenguaje de programación, el de Ada Lovelace </vt:lpstr>
      <vt:lpstr>Alan Turing</vt:lpstr>
      <vt:lpstr>1957 y el primer lenguaje de programación real</vt:lpstr>
      <vt:lpstr>En 1959 llegó COBOL</vt:lpstr>
      <vt:lpstr>1964 y el nacimiento de BASIC</vt:lpstr>
      <vt:lpstr>PASCAL</vt:lpstr>
      <vt:lpstr>SQL (por sus siglas en inglés Structured Query Language)</vt:lpstr>
      <vt:lpstr>Scheme</vt:lpstr>
      <vt:lpstr>1972, llega C</vt:lpstr>
      <vt:lpstr>Y C++ en 1979</vt:lpstr>
      <vt:lpstr>HTML</vt:lpstr>
      <vt:lpstr>ERLANG</vt:lpstr>
      <vt:lpstr>Python</vt:lpstr>
      <vt:lpstr>Visual Basic</vt:lpstr>
      <vt:lpstr>JAVA en 1983…</vt:lpstr>
      <vt:lpstr>Perl</vt:lpstr>
      <vt:lpstr>Lenguaje de Programación R en 1993</vt:lpstr>
      <vt:lpstr>Rasmus Lerdorf y PHP</vt:lpstr>
      <vt:lpstr>JAVASCRIPT</vt:lpstr>
      <vt:lpstr>Ruby</vt:lpstr>
      <vt:lpstr>Delphi</vt:lpstr>
      <vt:lpstr>2001 y C#</vt:lpstr>
      <vt:lpstr>Y Scala en 2003</vt:lpstr>
      <vt:lpstr>Scratch en 2006</vt:lpstr>
      <vt:lpstr>RUST en 2006</vt:lpstr>
      <vt:lpstr>GO de Google</vt:lpstr>
      <vt:lpstr>Elixir</vt:lpstr>
      <vt:lpstr>Kotlin, en 2012</vt:lpstr>
      <vt:lpstr>TypeScript</vt:lpstr>
      <vt:lpstr>Swift, en 2013</vt:lpstr>
      <vt:lpstr>Bibliografía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Línea del Tiempo de los lenguajes de Programación</dc:title>
  <dc:creator>Hideki GM</dc:creator>
  <cp:lastModifiedBy>Hideki GM</cp:lastModifiedBy>
  <cp:revision>10</cp:revision>
  <dcterms:created xsi:type="dcterms:W3CDTF">2022-11-02T00:56:08Z</dcterms:created>
  <dcterms:modified xsi:type="dcterms:W3CDTF">2022-11-02T05:18:33Z</dcterms:modified>
</cp:coreProperties>
</file>